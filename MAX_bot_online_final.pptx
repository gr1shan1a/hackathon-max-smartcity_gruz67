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</p:sldIdLst>
  <p:sldSz cx="12192000" cy="6858000"/>
  <p:notesSz cx="6858000" cy="9144000"/>
  <p:embeddedFontLst>
    <p:embeddedFont>
      <p:font typeface="Inter" panose="02000503000000020004" pitchFamily="2" charset="0"/>
      <p:regular r:id="rId20"/>
    </p:embeddedFont>
    <p:embeddedFont>
      <p:font typeface="Inter Bold" panose="02000503000000020004" pitchFamily="2" charset="0"/>
      <p:regular r:id="rId21"/>
      <p:bold r:id="rId22"/>
    </p:embeddedFont>
  </p:embeddedFont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0"/>
  </p:normalViewPr>
  <p:slideViewPr>
    <p:cSldViewPr snapToGrid="0" snapToObjects="1">
      <p:cViewPr varScale="1">
        <p:scale>
          <a:sx n="119" d="100"/>
          <a:sy n="119" d="100"/>
        </p:scale>
        <p:origin x="5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Открытие: Мы собрали повседневные задачи дома в одном понятном интерфейсе. Сегодня покажем реальные экраны работающего MVP, устройство системы и конкретный путь подключения данных управляющей компании. Демонстрация не является внедрением в реальный ЖК.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Проблемы сформулированы как продуктовые предпосылки, а не результаты проведённого исследования. Числовые эффекты ещё не измерены.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Сейчас основной работающий интерфейс предназначен жителю. Кабинет диспетчера и полная серверная ролевая модель входят в следующий этап.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Оба экрана сняты с локального приложения. Каталог находится в frontend/src/lib/services.ts. Поиск по названиям и ключевым словам; четыре раздела нижней навигации.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Не демонстрируем изменение статуса заявки как реализованный рабочий процесс УК: новая запись создаётся со статусом new. Фото из формы не загружаются. Сведения об исполнителях и выполнении есть в seed-примерах. MAX интеграционный код реализован; внешнее подключение в этой сессии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Слева — настоящий фрагмент карточки TCK-142, справа — заполненная форма без отправки. Голоса и новые заявки сохраняются. Сведения о мастере у показанного примера заранее подготовлены; кабинета диспетчера и переходов статуса пока нет. Создание обращения не равно его реальному приёму УК.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Пропуск создан через реальную форму для гостя «Гость презентации», без отправки кому-либо. Можно оформить заранее, повторно открыть и отменить. UI: 4/8/24 часа, API: 1–72 часа; даты сохраняются в UTC. Физический контроль въезда — следующий интеграционный этап.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Все четыре изображения — реальные скриншоты. Показания сохраняются, оплата меняет тестовый статус. Собрание даёт выбрать время: кворум тестовый, .ics использует фиксированную дату, документы-заглушки. Объявления можно создавать, изменять и удалять с проверкой квартиры демопрофиля.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Лента, справочник и профиль сняты без изменения данных. Роли публикаций в ленте требуют серверной доработки, а выбранный X-Demo-User не является аутентификацией. Демонстрационные контакты не выдаются за действующие контакты реального ЖК.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Схема описывает код репозитория. Backend — модульный монолит, не набор микросервисов. HTTP API, webhook и worker работают в одном Node.js приложении. Одна PostgreSQL хранит бизнес-сущности и очередь. В Docker Nginx отдаёт frontend и проксирует API; локальный запуск использует скрипт Python и Vite preview. Worker читает публичные заявки для /tickets. Изображение показывает реализованный адаптер MAX; стабильный публичный HTTPS и проверка внешнего подключения требуются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 backend/src/db/store.ts и bot/webhook.ts. Это универсальная таблица records, а не отдельная нормализованная таблица для каждого домена. Владение и ключи реляционные, payload JSONB. Личные коллекции: счета, счётчики, пропуска, исходящие сообщения, carReports и выборы голосов. Приватность опирается на демопрофиль; реальная аутентификация ещё нужна. Чтение коллекции целиком и блокировки по коллекции ограничивают дальнейшее масштабирование.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Вход сохраняется до ответа webhook. Worker использует FOR UPDATE SKIP LOCKED, повторные попытки с растущей задержкой до 300 секунд. Возможна повторная отправка при сбое между внешней отправкой и COMMIT: exactly-once не обещаем. /tickets читает общие публичные заявки; /bills не выдаёт персональные счета за привязанные. На текущем локальном запуске исходящий worker отключён.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План, а не уже подключённые интеграции. На первом пилоте основной источник — партнёрская УК и её фактическая учётная система. CSV/XLSX-импорт и адаптеры ещё требуется реализовать. Доступ к ЛС и данным жильцов выдаёт владелец системы; нельзя получать частные данные просто из открытого интернета. Источники: 1С:Учет в управляющих компаниях ЖКХ, ТСЖ и ЖСК: https://solutions.1c.ru/catalog/jkh-tsj/features ; документация ГИС ЖКХ по сопряжению внешних систем: https://cdn.dom.gosuslugi.ru/webhelp/new/topics/introduction/c_documentation-zastr.html ; пример продуктового API-обмена 1С с ГИС ЖКХ: https://solutions.1c.ru/catalog/gisapi ; ЮKassa webhook: https://yookassa.ru/developers/using-api/webhooks . ЮKassa приведена как пример провайдера с документированным API, не как партнёр проекта. Для СКУД выбирается реальная модель оборудования и проверяется поддержка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Вывод о сохранении интерфейса — архитектурное предложение на основе имеющегося REST API, а не обещание подключения без работ. Внешние источники преобразуются к внутренней модели данных; API расширяется по необходимости. Нужно реализовать импорт и upsert по external_id, журнал синхронизации, права и контроль расхождений. Подлинность initData проверяется на сервере; MAX не подтверждает квартиру сам по себе. Официальная документация: https://dev.max.ru/docs/webapps/validation . Платежный статус подтверждается сервером провайдера, а не кнопкой пользователя; пример механизма: https://yookassa.ru/developers/using-api/webhooks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SWOT-иллюстрация унаследована из пользовательской презентации. Её ограничения соответствуют аудиту кода. Работающая база и API не означают подтверждённую личность, real-time синхронизацию или готовность к произвольной нагрузке.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Этапы предложены, сроки и договорённости не выдумываются. Сначала довести публикации ленты, серверные роли, показ серверных итогов голосования, дату .ics и формулировки успешных операций. Затем один подтверждённый сквозной сценарий с выбранной УК. Платежи и СКУД подключать отдельными адаптерами, когда согласованы доступы. После пилота — building_id, изоляция домов, пагинация и оптимизация коллекций.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Финальная речь: «Мы начали с простой проблемы: задачи одного дома разбросаны по разным каналам. Сейчас у нас есть работающий интерфейс, сервер, база данных и основа интеграции с MAX. Следующий шаг конкретный — одна управляющая компания, один дом и проверенный сценарий от обращения жителя до результата. MAX Дом — один понятный сервис для повседневной жизни дома». Не обещать уже заключённый пилот. При готовности к обсуждению: «Готовы обсудить площадку для пилота».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57E58AB-B4C7-430F-9FC8-FB316C8CAD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55F8BC5-8399-4C53-AE31-EDB5E7E350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350A4F4-F82F-44F1-A65C-1BD251A38307}"/>
              </a:ext>
            </a:extLst>
          </p:cNvPr>
          <p:cNvSpPr>
            <a:spLocks noGrp="1"/>
          </p:cNvSpPr>
          <p:nvPr/>
        </p:nvSpPr>
        <p:spPr>
          <a:xfrm>
            <a:off x="5229225" y="638175"/>
            <a:ext cx="6571914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3600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lang="ru-RU" sz="3600" b="1" dirty="0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Мой дом | Цифровой помощник</a:t>
            </a:r>
            <a:endParaRPr sz="3600" b="1" dirty="0">
              <a:solidFill>
                <a:srgbClr val="005AAA"/>
              </a:solidFill>
              <a:latin typeface="Inter Bold"/>
              <a:ea typeface="Inter Bold"/>
              <a:cs typeface="Inter Bold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004691F-6145-46F1-81A2-C27C89C5173A}"/>
              </a:ext>
            </a:extLst>
          </p:cNvPr>
          <p:cNvSpPr>
            <a:spLocks noGrp="1"/>
          </p:cNvSpPr>
          <p:nvPr/>
        </p:nvSpPr>
        <p:spPr>
          <a:xfrm>
            <a:off x="6408577" y="2047875"/>
            <a:ext cx="6296025" cy="276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4650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2400" b="1" dirty="0" err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Все</a:t>
            </a:r>
            <a:r>
              <a:rPr sz="2400" b="1" dirty="0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 </a:t>
            </a:r>
            <a:r>
              <a:rPr sz="2400" b="1" dirty="0" err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вопросы</a:t>
            </a:r>
            <a:r>
              <a:rPr sz="2400" b="1" dirty="0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 </a:t>
            </a:r>
            <a:r>
              <a:rPr sz="2400" b="1" dirty="0" err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дома</a:t>
            </a:r>
            <a:r>
              <a:rPr sz="2400" b="1" dirty="0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 </a:t>
            </a:r>
            <a:r>
              <a:rPr sz="2400" b="1" dirty="0" err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в</a:t>
            </a:r>
            <a:r>
              <a:rPr sz="2400" b="1" dirty="0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 </a:t>
            </a:r>
            <a:r>
              <a:rPr sz="2400" b="1" dirty="0" err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одном</a:t>
            </a:r>
            <a:endParaRPr sz="2400" b="1" dirty="0">
              <a:solidFill>
                <a:srgbClr val="005AAA"/>
              </a:solidFill>
              <a:latin typeface="Inter Bold"/>
              <a:ea typeface="Inter Bold"/>
              <a:cs typeface="Inter Bold"/>
            </a:endParaRPr>
          </a:p>
          <a:p>
            <a:pPr marL="0" indent="0" algn="l">
              <a:lnSpc>
                <a:spcPct val="114000"/>
              </a:lnSpc>
              <a:buNone/>
              <a:defRPr sz="4650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2400" b="1" dirty="0" err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мини-приложении</a:t>
            </a:r>
            <a:r>
              <a:rPr lang="ru-RU" sz="2400" b="1" dirty="0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 в </a:t>
            </a:r>
            <a:r>
              <a:rPr lang="en-US" sz="2400" b="1" dirty="0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MAX</a:t>
            </a:r>
            <a:endParaRPr sz="2400" b="1" dirty="0">
              <a:solidFill>
                <a:srgbClr val="005AAA"/>
              </a:solidFill>
              <a:latin typeface="Inter Bold"/>
              <a:ea typeface="Inter Bold"/>
              <a:cs typeface="Inter Bold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861B94F-652F-4CD0-A182-CE221814CBB2}"/>
              </a:ext>
            </a:extLst>
          </p:cNvPr>
          <p:cNvSpPr>
            <a:spLocks noGrp="1"/>
          </p:cNvSpPr>
          <p:nvPr/>
        </p:nvSpPr>
        <p:spPr>
          <a:xfrm>
            <a:off x="5329520" y="3076575"/>
            <a:ext cx="6296025" cy="704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725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725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Заявки</a:t>
            </a:r>
            <a:r>
              <a:rPr sz="1725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, </a:t>
            </a:r>
            <a:r>
              <a:rPr sz="1725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квитанции</a:t>
            </a:r>
            <a:r>
              <a:rPr sz="1725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, </a:t>
            </a:r>
            <a:r>
              <a:rPr sz="1725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счётчики</a:t>
            </a:r>
            <a:r>
              <a:rPr sz="1725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, </a:t>
            </a:r>
            <a:r>
              <a:rPr sz="1725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парковка</a:t>
            </a:r>
            <a:endParaRPr sz="1725" b="0" dirty="0">
              <a:solidFill>
                <a:srgbClr val="242834"/>
              </a:solidFill>
              <a:latin typeface="Inter"/>
              <a:ea typeface="Inter"/>
              <a:cs typeface="Inter"/>
            </a:endParaRPr>
          </a:p>
          <a:p>
            <a:pPr marL="0" indent="0" algn="l">
              <a:lnSpc>
                <a:spcPct val="114000"/>
              </a:lnSpc>
              <a:buNone/>
              <a:defRPr sz="1725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725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и</a:t>
            </a:r>
            <a:r>
              <a:rPr sz="1725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 </a:t>
            </a:r>
            <a:r>
              <a:rPr sz="1725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общение</a:t>
            </a:r>
            <a:r>
              <a:rPr sz="1725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 </a:t>
            </a:r>
            <a:r>
              <a:rPr sz="1725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с</a:t>
            </a:r>
            <a:r>
              <a:rPr sz="1725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 </a:t>
            </a:r>
            <a:r>
              <a:rPr sz="1725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соседями</a:t>
            </a:r>
            <a:r>
              <a:rPr sz="1725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 — </a:t>
            </a:r>
            <a:r>
              <a:rPr sz="1725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в</a:t>
            </a:r>
            <a:r>
              <a:rPr sz="1725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 MAX</a:t>
            </a: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EF099D39-618E-4DE1-B623-C77FA6A1E157}"/>
              </a:ext>
            </a:extLst>
          </p:cNvPr>
          <p:cNvSpPr>
            <a:spLocks noGrp="1"/>
          </p:cNvSpPr>
          <p:nvPr/>
        </p:nvSpPr>
        <p:spPr>
          <a:xfrm>
            <a:off x="5257918" y="3840704"/>
            <a:ext cx="1740849" cy="272752"/>
          </a:xfrm>
          <a:prstGeom prst="roundRect">
            <a:avLst>
              <a:gd name="adj" fmla="val 22121"/>
            </a:avLst>
          </a:prstGeom>
          <a:solidFill>
            <a:srgbClr val="CCE4FF"/>
          </a:solidFill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932D56E-51AB-4758-913F-88E33255D745}"/>
              </a:ext>
            </a:extLst>
          </p:cNvPr>
          <p:cNvSpPr>
            <a:spLocks noGrp="1"/>
          </p:cNvSpPr>
          <p:nvPr/>
        </p:nvSpPr>
        <p:spPr>
          <a:xfrm>
            <a:off x="5365568" y="3894480"/>
            <a:ext cx="2135134" cy="165199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sz="110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КОМАНДА «ГРУЗ 67»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C00EB2CF-9EA0-4BAC-8D2B-17B2ED68BC77}"/>
              </a:ext>
            </a:extLst>
          </p:cNvPr>
          <p:cNvSpPr>
            <a:spLocks noGrp="1"/>
          </p:cNvSpPr>
          <p:nvPr/>
        </p:nvSpPr>
        <p:spPr>
          <a:xfrm>
            <a:off x="7088459" y="3840704"/>
            <a:ext cx="2217682" cy="272752"/>
          </a:xfrm>
          <a:prstGeom prst="roundRect">
            <a:avLst>
              <a:gd name="adj" fmla="val 22121"/>
            </a:avLst>
          </a:prstGeom>
          <a:noFill/>
          <a:ln w="6350">
            <a:solidFill>
              <a:srgbClr val="003068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7F14208-2773-4105-A6B6-0A3B66135C8E}"/>
              </a:ext>
            </a:extLst>
          </p:cNvPr>
          <p:cNvSpPr>
            <a:spLocks noGrp="1"/>
          </p:cNvSpPr>
          <p:nvPr/>
        </p:nvSpPr>
        <p:spPr>
          <a:xfrm>
            <a:off x="7196108" y="3894480"/>
            <a:ext cx="2611967" cy="165199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ru-RU" sz="1100" dirty="0">
                <a:solidFill>
                  <a:srgbClr val="003068"/>
                </a:solidFill>
                <a:latin typeface="Inter"/>
                <a:ea typeface="Inter"/>
                <a:cs typeface="Inter"/>
              </a:rPr>
              <a:t>трек</a:t>
            </a:r>
            <a:r>
              <a:rPr sz="1100" dirty="0">
                <a:solidFill>
                  <a:srgbClr val="003068"/>
                </a:solidFill>
                <a:latin typeface="Inter"/>
                <a:ea typeface="Inter"/>
                <a:cs typeface="Inter"/>
              </a:rPr>
              <a:t> «УМНЫЙ ГОРОД»</a:t>
            </a:r>
          </a:p>
        </p:txBody>
      </p:sp>
      <p:sp>
        <p:nvSpPr>
          <p:cNvPr id="2" name="Text 6">
            <a:extLst>
              <a:ext uri="{FF2B5EF4-FFF2-40B4-BE49-F238E27FC236}">
                <a16:creationId xmlns:a16="http://schemas.microsoft.com/office/drawing/2014/main" id="{70F98461-6334-C89F-F482-F5C57E1A761D}"/>
              </a:ext>
            </a:extLst>
          </p:cNvPr>
          <p:cNvSpPr>
            <a:spLocks noGrp="1"/>
          </p:cNvSpPr>
          <p:nvPr/>
        </p:nvSpPr>
        <p:spPr>
          <a:xfrm>
            <a:off x="5229225" y="4418611"/>
            <a:ext cx="2611967" cy="165199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ru-RU" sz="1600" dirty="0">
                <a:solidFill>
                  <a:srgbClr val="003068"/>
                </a:solidFill>
                <a:latin typeface="Inter"/>
                <a:ea typeface="Inter"/>
                <a:cs typeface="Inter"/>
              </a:rPr>
              <a:t>Состав команды:</a:t>
            </a:r>
            <a:br>
              <a:rPr lang="ru-RU" sz="1600" dirty="0">
                <a:solidFill>
                  <a:srgbClr val="003068"/>
                </a:solidFill>
                <a:latin typeface="Inter"/>
                <a:ea typeface="Inter"/>
                <a:cs typeface="Inter"/>
              </a:rPr>
            </a:br>
            <a:r>
              <a:rPr lang="ru-RU" sz="1600" dirty="0">
                <a:solidFill>
                  <a:srgbClr val="003068"/>
                </a:solidFill>
                <a:latin typeface="Inter"/>
                <a:ea typeface="Inter"/>
                <a:cs typeface="Inter"/>
              </a:rPr>
              <a:t>Куранов Григорий </a:t>
            </a:r>
          </a:p>
          <a:p>
            <a:pPr marL="0" indent="0" algn="l">
              <a:lnSpc>
                <a:spcPct val="96000"/>
              </a:lnSpc>
              <a:buNone/>
            </a:pPr>
            <a:r>
              <a:rPr lang="ru-RU" sz="1600" dirty="0">
                <a:solidFill>
                  <a:srgbClr val="003068"/>
                </a:solidFill>
                <a:latin typeface="Inter"/>
                <a:ea typeface="Inter"/>
                <a:cs typeface="Inter"/>
              </a:rPr>
              <a:t>Новикова Полина</a:t>
            </a:r>
            <a:br>
              <a:rPr lang="ru-RU" sz="1600" dirty="0">
                <a:solidFill>
                  <a:srgbClr val="003068"/>
                </a:solidFill>
                <a:latin typeface="Inter"/>
                <a:ea typeface="Inter"/>
                <a:cs typeface="Inter"/>
              </a:rPr>
            </a:br>
            <a:r>
              <a:rPr lang="ru-RU" sz="1600" dirty="0">
                <a:solidFill>
                  <a:srgbClr val="003068"/>
                </a:solidFill>
                <a:latin typeface="Inter"/>
                <a:ea typeface="Inter"/>
                <a:cs typeface="Inter"/>
              </a:rPr>
              <a:t>Белов Василий</a:t>
            </a:r>
            <a:endParaRPr sz="1600" dirty="0">
              <a:solidFill>
                <a:srgbClr val="003068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B27DF18-265C-D5DD-A453-57AB8EA532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8800" y="6248400"/>
            <a:ext cx="1422400" cy="609600"/>
          </a:xfrm>
          <a:prstGeom prst="rect">
            <a:avLst/>
          </a:prstGeom>
        </p:spPr>
      </p:pic>
      <p:sp>
        <p:nvSpPr>
          <p:cNvPr id="16" name="Text 9">
            <a:extLst>
              <a:ext uri="{FF2B5EF4-FFF2-40B4-BE49-F238E27FC236}">
                <a16:creationId xmlns:a16="http://schemas.microsoft.com/office/drawing/2014/main" id="{D6D1E7C5-9D9A-82AD-44F8-459668F92AC4}"/>
              </a:ext>
            </a:extLst>
          </p:cNvPr>
          <p:cNvSpPr>
            <a:spLocks noGrp="1"/>
          </p:cNvSpPr>
          <p:nvPr/>
        </p:nvSpPr>
        <p:spPr>
          <a:xfrm>
            <a:off x="8382652" y="4610405"/>
            <a:ext cx="747622" cy="34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650" b="0">
                <a:solidFill>
                  <a:srgbClr val="57677C"/>
                </a:solidFill>
                <a:latin typeface="Inter"/>
                <a:ea typeface="Inter"/>
                <a:cs typeface="Inter"/>
              </a:defRPr>
            </a:pPr>
            <a:r>
              <a:rPr lang="en-US" sz="1650" b="0" i="1" dirty="0" err="1">
                <a:solidFill>
                  <a:srgbClr val="57677C"/>
                </a:solidFill>
                <a:latin typeface="Inter"/>
                <a:ea typeface="Inter"/>
                <a:cs typeface="Inter"/>
              </a:rPr>
              <a:t>github</a:t>
            </a:r>
            <a:endParaRPr sz="1650" b="0" i="1" dirty="0">
              <a:solidFill>
                <a:srgbClr val="57677C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4DEAB3E8-A8BA-D18D-1683-9004544EB320}"/>
              </a:ext>
            </a:extLst>
          </p:cNvPr>
          <p:cNvSpPr>
            <a:spLocks noGrp="1"/>
          </p:cNvSpPr>
          <p:nvPr/>
        </p:nvSpPr>
        <p:spPr>
          <a:xfrm>
            <a:off x="10221191" y="4610405"/>
            <a:ext cx="1759457" cy="34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4000"/>
              </a:lnSpc>
              <a:buNone/>
              <a:defRPr sz="1650" b="0">
                <a:solidFill>
                  <a:srgbClr val="57677C"/>
                </a:solidFill>
                <a:latin typeface="Inter"/>
                <a:ea typeface="Inter"/>
                <a:cs typeface="Inter"/>
              </a:defRPr>
            </a:pPr>
            <a:r>
              <a:rPr lang="en-US" sz="1650" b="0" i="1" dirty="0">
                <a:solidFill>
                  <a:srgbClr val="57677C"/>
                </a:solidFill>
                <a:latin typeface="Inter"/>
                <a:ea typeface="Inter"/>
                <a:cs typeface="Inter"/>
              </a:rPr>
              <a:t>Bot </a:t>
            </a:r>
            <a:r>
              <a:rPr lang="ru-RU" sz="1650" b="0" i="1" dirty="0">
                <a:solidFill>
                  <a:srgbClr val="57677C"/>
                </a:solidFill>
                <a:latin typeface="Inter"/>
                <a:ea typeface="Inter"/>
                <a:cs typeface="Inter"/>
              </a:rPr>
              <a:t>в </a:t>
            </a:r>
            <a:r>
              <a:rPr lang="en-US" sz="1650" b="0" i="1" dirty="0">
                <a:solidFill>
                  <a:srgbClr val="57677C"/>
                </a:solidFill>
                <a:latin typeface="Inter"/>
                <a:ea typeface="Inter"/>
                <a:cs typeface="Inter"/>
              </a:rPr>
              <a:t>MAX</a:t>
            </a:r>
            <a:endParaRPr sz="1650" b="0" i="1" dirty="0">
              <a:solidFill>
                <a:srgbClr val="57677C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FDB40AF-0155-0F2C-13A0-49C0E7C8B1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1595" y="4920416"/>
            <a:ext cx="1898650" cy="187325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3FF7CA65-AEDF-3E78-CB2D-1C287EC553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1192" y="4920416"/>
            <a:ext cx="1830543" cy="179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954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EDB0DFC-5C22-4AC1-BB2B-2743BAF8AFA7}"/>
              </a:ext>
            </a:extLst>
          </p:cNvPr>
          <p:cNvSpPr>
            <a:spLocks noGrp="1"/>
          </p:cNvSpPr>
          <p:nvPr/>
        </p:nvSpPr>
        <p:spPr>
          <a:xfrm>
            <a:off x="661475" y="554534"/>
            <a:ext cx="6296860" cy="988417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sz="3100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Задачи одного дома — в разных каналах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806BA1C9-8A10-4048-ABA3-B20FB47D2B77}"/>
              </a:ext>
            </a:extLst>
          </p:cNvPr>
          <p:cNvSpPr>
            <a:spLocks noGrp="1"/>
          </p:cNvSpPr>
          <p:nvPr/>
        </p:nvSpPr>
        <p:spPr>
          <a:xfrm>
            <a:off x="661475" y="1741388"/>
            <a:ext cx="6296860" cy="887909"/>
          </a:xfrm>
          <a:prstGeom prst="roundRect">
            <a:avLst>
              <a:gd name="adj" fmla="val 7481"/>
            </a:avLst>
          </a:prstGeom>
          <a:solidFill>
            <a:srgbClr val="CCE4FF"/>
          </a:solidFill>
          <a:ln w="6350">
            <a:solidFill>
              <a:srgbClr val="B2CAE5"/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47F3E0C-59E4-4C48-9AA6-20EB77ACB338}"/>
              </a:ext>
            </a:extLst>
          </p:cNvPr>
          <p:cNvSpPr>
            <a:spLocks noGrp="1"/>
          </p:cNvSpPr>
          <p:nvPr/>
        </p:nvSpPr>
        <p:spPr>
          <a:xfrm>
            <a:off x="825975" y="1905893"/>
            <a:ext cx="5967859" cy="24715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550" b="1">
                <a:solidFill>
                  <a:srgbClr val="242834"/>
                </a:solidFill>
                <a:latin typeface="Inter Bold"/>
                <a:ea typeface="Inter Bold"/>
                <a:cs typeface="Inter Bold"/>
              </a:rPr>
              <a:t>Информация теряется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04C3640-12C8-4F11-AE64-F921DCE6B2B9}"/>
              </a:ext>
            </a:extLst>
          </p:cNvPr>
          <p:cNvSpPr>
            <a:spLocks noGrp="1"/>
          </p:cNvSpPr>
          <p:nvPr/>
        </p:nvSpPr>
        <p:spPr>
          <a:xfrm>
            <a:off x="825975" y="2232422"/>
            <a:ext cx="5967859" cy="23237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sz="1200">
                <a:solidFill>
                  <a:srgbClr val="242834"/>
                </a:solidFill>
                <a:latin typeface="Inter"/>
                <a:ea typeface="Inter"/>
                <a:cs typeface="Inter"/>
              </a:rPr>
              <a:t>Сообщение о поломке растворяется в общем чате без фиксации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21FC526-4104-42EB-8880-CAA01D625B47}"/>
              </a:ext>
            </a:extLst>
          </p:cNvPr>
          <p:cNvSpPr>
            <a:spLocks noGrp="1"/>
          </p:cNvSpPr>
          <p:nvPr/>
        </p:nvSpPr>
        <p:spPr>
          <a:xfrm>
            <a:off x="661475" y="2761555"/>
            <a:ext cx="6296860" cy="887909"/>
          </a:xfrm>
          <a:prstGeom prst="roundRect">
            <a:avLst>
              <a:gd name="adj" fmla="val 7481"/>
            </a:avLst>
          </a:prstGeom>
          <a:solidFill>
            <a:srgbClr val="CCE4FF"/>
          </a:solidFill>
          <a:ln w="6350">
            <a:solidFill>
              <a:srgbClr val="B2CAE5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CA63422-88A8-43EF-9830-69041317FAF7}"/>
              </a:ext>
            </a:extLst>
          </p:cNvPr>
          <p:cNvSpPr>
            <a:spLocks noGrp="1"/>
          </p:cNvSpPr>
          <p:nvPr/>
        </p:nvSpPr>
        <p:spPr>
          <a:xfrm>
            <a:off x="825975" y="2926060"/>
            <a:ext cx="5967859" cy="24715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550" b="1">
                <a:solidFill>
                  <a:srgbClr val="242834"/>
                </a:solidFill>
                <a:latin typeface="Inter Bold"/>
                <a:ea typeface="Inter Bold"/>
                <a:cs typeface="Inter Bold"/>
              </a:rPr>
              <a:t>Обращения дублируются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150DA8B-C9D1-49A2-8FE6-DA64B3B3316E}"/>
              </a:ext>
            </a:extLst>
          </p:cNvPr>
          <p:cNvSpPr>
            <a:spLocks noGrp="1"/>
          </p:cNvSpPr>
          <p:nvPr/>
        </p:nvSpPr>
        <p:spPr>
          <a:xfrm>
            <a:off x="825975" y="3252589"/>
            <a:ext cx="5967859" cy="23237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sz="1200">
                <a:solidFill>
                  <a:srgbClr val="242834"/>
                </a:solidFill>
                <a:latin typeface="Inter"/>
                <a:ea typeface="Inter"/>
                <a:cs typeface="Inter"/>
              </a:rPr>
              <a:t>Соседи не видят существующих заявок и создают новые</a:t>
            </a: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389FD72-C463-4F25-92C3-A3E328CD6E31}"/>
              </a:ext>
            </a:extLst>
          </p:cNvPr>
          <p:cNvSpPr>
            <a:spLocks noGrp="1"/>
          </p:cNvSpPr>
          <p:nvPr/>
        </p:nvSpPr>
        <p:spPr>
          <a:xfrm>
            <a:off x="661475" y="3781723"/>
            <a:ext cx="6296860" cy="887909"/>
          </a:xfrm>
          <a:prstGeom prst="roundRect">
            <a:avLst>
              <a:gd name="adj" fmla="val 7481"/>
            </a:avLst>
          </a:prstGeom>
          <a:solidFill>
            <a:srgbClr val="CCE4FF"/>
          </a:solidFill>
          <a:ln w="6350">
            <a:solidFill>
              <a:srgbClr val="B2CAE5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564C4D7B-616D-417D-BC83-CCAB2F40993D}"/>
              </a:ext>
            </a:extLst>
          </p:cNvPr>
          <p:cNvSpPr>
            <a:spLocks noGrp="1"/>
          </p:cNvSpPr>
          <p:nvPr/>
        </p:nvSpPr>
        <p:spPr>
          <a:xfrm>
            <a:off x="825975" y="3946227"/>
            <a:ext cx="5967859" cy="24715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550" b="1">
                <a:solidFill>
                  <a:srgbClr val="242834"/>
                </a:solidFill>
                <a:latin typeface="Inter Bold"/>
                <a:ea typeface="Inter Bold"/>
                <a:cs typeface="Inter Bold"/>
              </a:rPr>
              <a:t>Всё разбросано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F52DBC7-BC90-4CA7-88D8-02FEF25F4826}"/>
              </a:ext>
            </a:extLst>
          </p:cNvPr>
          <p:cNvSpPr>
            <a:spLocks noGrp="1"/>
          </p:cNvSpPr>
          <p:nvPr/>
        </p:nvSpPr>
        <p:spPr>
          <a:xfrm>
            <a:off x="825975" y="4272756"/>
            <a:ext cx="5967859" cy="23237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sz="1200">
                <a:solidFill>
                  <a:srgbClr val="242834"/>
                </a:solidFill>
                <a:latin typeface="Inter"/>
                <a:ea typeface="Inter"/>
                <a:cs typeface="Inter"/>
              </a:rPr>
              <a:t>Квитанции, показания, контакты и пропуска — в разных местах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F7782820-218B-4052-A4DE-E685C9F399F8}"/>
              </a:ext>
            </a:extLst>
          </p:cNvPr>
          <p:cNvSpPr>
            <a:spLocks noGrp="1"/>
          </p:cNvSpPr>
          <p:nvPr/>
        </p:nvSpPr>
        <p:spPr>
          <a:xfrm>
            <a:off x="661475" y="4801890"/>
            <a:ext cx="6296860" cy="887909"/>
          </a:xfrm>
          <a:prstGeom prst="roundRect">
            <a:avLst>
              <a:gd name="adj" fmla="val 7481"/>
            </a:avLst>
          </a:prstGeom>
          <a:solidFill>
            <a:srgbClr val="CCE4FF"/>
          </a:solidFill>
          <a:ln w="6350">
            <a:solidFill>
              <a:srgbClr val="B2CAE5"/>
            </a:solidFill>
            <a:prstDash val="solid"/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622155F8-0F68-4484-B286-016C64E935F2}"/>
              </a:ext>
            </a:extLst>
          </p:cNvPr>
          <p:cNvSpPr>
            <a:spLocks noGrp="1"/>
          </p:cNvSpPr>
          <p:nvPr/>
        </p:nvSpPr>
        <p:spPr>
          <a:xfrm>
            <a:off x="825975" y="4966395"/>
            <a:ext cx="5967859" cy="247154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550" b="1">
                <a:solidFill>
                  <a:srgbClr val="242834"/>
                </a:solidFill>
                <a:latin typeface="Inter Bold"/>
                <a:ea typeface="Inter Bold"/>
                <a:cs typeface="Inter Bold"/>
              </a:rPr>
              <a:t>Нет прозрачности</a:t>
            </a: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F35C82DA-35BD-42EE-A596-5A518057185B}"/>
              </a:ext>
            </a:extLst>
          </p:cNvPr>
          <p:cNvSpPr>
            <a:spLocks noGrp="1"/>
          </p:cNvSpPr>
          <p:nvPr/>
        </p:nvSpPr>
        <p:spPr>
          <a:xfrm>
            <a:off x="825975" y="5292923"/>
            <a:ext cx="5967859" cy="23237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sz="1200">
                <a:solidFill>
                  <a:srgbClr val="242834"/>
                </a:solidFill>
                <a:latin typeface="Inter"/>
                <a:ea typeface="Inter"/>
                <a:cs typeface="Inter"/>
              </a:rPr>
              <a:t>Непонятно, где посмотреть состояние обращения и материалы собрания</a:t>
            </a: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C8FE4C9B-BD4A-41E4-8F44-728950056A31}"/>
              </a:ext>
            </a:extLst>
          </p:cNvPr>
          <p:cNvSpPr>
            <a:spLocks noGrp="1"/>
          </p:cNvSpPr>
          <p:nvPr/>
        </p:nvSpPr>
        <p:spPr>
          <a:xfrm>
            <a:off x="661475" y="5838627"/>
            <a:ext cx="6296860" cy="46474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sz="1200" b="1">
                <a:solidFill>
                  <a:srgbClr val="242834"/>
                </a:solidFill>
                <a:latin typeface="Inter Bold"/>
                <a:ea typeface="Inter Bold"/>
                <a:cs typeface="Inter Bold"/>
              </a:rPr>
              <a:t>Цель:</a:t>
            </a:r>
            <a:r>
              <a:rPr sz="1200">
                <a:solidFill>
                  <a:srgbClr val="242834"/>
                </a:solidFill>
                <a:latin typeface="Inter"/>
                <a:ea typeface="Inter"/>
                <a:cs typeface="Inter"/>
              </a:rPr>
              <a:t> единая точка входа для всех бытовых задач жителя — в привычном канале MAX</a:t>
            </a:r>
          </a:p>
        </p:txBody>
      </p:sp>
    </p:spTree>
    <p:extLst>
      <p:ext uri="{BB962C8B-B14F-4D97-AF65-F5344CB8AC3E}">
        <p14:creationId xmlns:p14="http://schemas.microsoft.com/office/powerpoint/2010/main" val="1348207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E7EA53A-50D2-4D58-A378-B38E1D7F8F17}"/>
              </a:ext>
            </a:extLst>
          </p:cNvPr>
          <p:cNvSpPr>
            <a:spLocks noGrp="1"/>
          </p:cNvSpPr>
          <p:nvPr/>
        </p:nvSpPr>
        <p:spPr>
          <a:xfrm>
            <a:off x="661475" y="911920"/>
            <a:ext cx="10868745" cy="590649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>
              <a:lnSpc>
                <a:spcPct val="104000"/>
              </a:lnSpc>
            </a:pPr>
            <a:r>
              <a:rPr sz="3600" b="1" dirty="0" err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Кому</a:t>
            </a:r>
            <a:r>
              <a:rPr sz="3600" b="1" dirty="0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 </a:t>
            </a:r>
            <a:r>
              <a:rPr sz="3600" b="1" dirty="0" err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помогает</a:t>
            </a:r>
            <a:r>
              <a:rPr sz="3600" b="1" dirty="0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 </a:t>
            </a:r>
            <a:r>
              <a:rPr lang="ru-RU" sz="3600" b="1" dirty="0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Мой дом | Цифровой помощник</a:t>
            </a:r>
          </a:p>
          <a:p>
            <a:pPr marL="0" indent="0" algn="l">
              <a:lnSpc>
                <a:spcPct val="104000"/>
              </a:lnSpc>
              <a:buNone/>
            </a:pPr>
            <a:endParaRPr sz="3600" b="1" dirty="0">
              <a:solidFill>
                <a:srgbClr val="005AAA"/>
              </a:solidFill>
              <a:latin typeface="Inter Bold"/>
              <a:ea typeface="Inter Bold"/>
              <a:cs typeface="Inter Bold"/>
            </a:endParaRPr>
          </a:p>
        </p:txBody>
      </p:sp>
      <p:pic>
        <p:nvPicPr>
          <p:cNvPr id="2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80592"/>
            <a:ext cx="2009923" cy="1242219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EF4F6749-D73C-4767-8A8B-72040F21B5D9}"/>
              </a:ext>
            </a:extLst>
          </p:cNvPr>
          <p:cNvSpPr>
            <a:spLocks noGrp="1"/>
          </p:cNvSpPr>
          <p:nvPr/>
        </p:nvSpPr>
        <p:spPr>
          <a:xfrm>
            <a:off x="661475" y="3359051"/>
            <a:ext cx="3465426" cy="295275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850" b="1">
                <a:solidFill>
                  <a:srgbClr val="242834"/>
                </a:solidFill>
                <a:latin typeface="Inter Bold"/>
                <a:ea typeface="Inter Bold"/>
                <a:cs typeface="Inter Bold"/>
              </a:rPr>
              <a:t>Житель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1D4C3BA-306C-4F13-A11F-9B41E5C04967}"/>
              </a:ext>
            </a:extLst>
          </p:cNvPr>
          <p:cNvSpPr>
            <a:spLocks noGrp="1"/>
          </p:cNvSpPr>
          <p:nvPr/>
        </p:nvSpPr>
        <p:spPr>
          <a:xfrm>
            <a:off x="661475" y="3767733"/>
            <a:ext cx="3465426" cy="120967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sz="1450">
                <a:solidFill>
                  <a:srgbClr val="242834"/>
                </a:solidFill>
                <a:latin typeface="Inter"/>
                <a:ea typeface="Inter"/>
                <a:cs typeface="Inter"/>
              </a:rPr>
              <a:t>Подать обращение, передать показания, найти контакты, оформить гостевой пропуск, посмотреть начисления</a:t>
            </a:r>
          </a:p>
        </p:txBody>
      </p:sp>
      <p:pic>
        <p:nvPicPr>
          <p:cNvPr id="23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1880592"/>
            <a:ext cx="2009923" cy="1242219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AA77337A-457C-4D0D-8FCC-8EBDE83A2652}"/>
              </a:ext>
            </a:extLst>
          </p:cNvPr>
          <p:cNvSpPr>
            <a:spLocks noGrp="1"/>
          </p:cNvSpPr>
          <p:nvPr/>
        </p:nvSpPr>
        <p:spPr>
          <a:xfrm>
            <a:off x="4363135" y="3359051"/>
            <a:ext cx="3465426" cy="295275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850" b="1">
                <a:solidFill>
                  <a:srgbClr val="242834"/>
                </a:solidFill>
                <a:latin typeface="Inter Bold"/>
                <a:ea typeface="Inter Bold"/>
                <a:cs typeface="Inter Bold"/>
              </a:rPr>
              <a:t>Совет дома / Председатель</a:t>
            </a: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EAD62636-AAB3-4037-BB13-624ACFBFC3D0}"/>
              </a:ext>
            </a:extLst>
          </p:cNvPr>
          <p:cNvSpPr>
            <a:spLocks noGrp="1"/>
          </p:cNvSpPr>
          <p:nvPr/>
        </p:nvSpPr>
        <p:spPr>
          <a:xfrm>
            <a:off x="4363135" y="3767733"/>
            <a:ext cx="3465426" cy="9072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sz="1450">
                <a:solidFill>
                  <a:srgbClr val="242834"/>
                </a:solidFill>
                <a:latin typeface="Inter"/>
                <a:ea typeface="Inter"/>
                <a:cs typeface="Inter"/>
              </a:rPr>
              <a:t>Информировать соседей, обсуждать вопросы дома, собирать предпочтения по времени собрания</a:t>
            </a:r>
          </a:p>
        </p:txBody>
      </p:sp>
      <p:pic>
        <p:nvPicPr>
          <p:cNvPr id="26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1880592"/>
            <a:ext cx="2009923" cy="1242219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BE0D15F9-7D59-4833-997F-A2FF7564A70A}"/>
              </a:ext>
            </a:extLst>
          </p:cNvPr>
          <p:cNvSpPr>
            <a:spLocks noGrp="1"/>
          </p:cNvSpPr>
          <p:nvPr/>
        </p:nvSpPr>
        <p:spPr>
          <a:xfrm>
            <a:off x="8064794" y="3359051"/>
            <a:ext cx="3465426" cy="295275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sz="1850" b="1">
                <a:solidFill>
                  <a:srgbClr val="242834"/>
                </a:solidFill>
                <a:latin typeface="Inter Bold"/>
                <a:ea typeface="Inter Bold"/>
                <a:cs typeface="Inter Bold"/>
              </a:rPr>
              <a:t>Управляющая организация</a:t>
            </a: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4FF6D99C-DC0B-43CD-A67A-8F3ECFAA38C5}"/>
              </a:ext>
            </a:extLst>
          </p:cNvPr>
          <p:cNvSpPr>
            <a:spLocks noGrp="1"/>
          </p:cNvSpPr>
          <p:nvPr/>
        </p:nvSpPr>
        <p:spPr>
          <a:xfrm>
            <a:off x="8064794" y="3767733"/>
            <a:ext cx="3465426" cy="9072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sz="1450">
                <a:solidFill>
                  <a:srgbClr val="242834"/>
                </a:solidFill>
                <a:latin typeface="Inter"/>
                <a:ea typeface="Inter"/>
                <a:cs typeface="Inter"/>
              </a:rPr>
              <a:t>Получать структурированные обращения и видеть коллективные подтверждения проблем</a:t>
            </a: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2B33EF9F-5944-416B-843E-174A9B1A9B6F}"/>
              </a:ext>
            </a:extLst>
          </p:cNvPr>
          <p:cNvSpPr>
            <a:spLocks noGrp="1"/>
          </p:cNvSpPr>
          <p:nvPr/>
        </p:nvSpPr>
        <p:spPr>
          <a:xfrm>
            <a:off x="661475" y="5190034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CCE4FF"/>
          </a:solidFill>
        </p:spPr>
      </p:sp>
      <p:pic>
        <p:nvPicPr>
          <p:cNvPr id="30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482" y="5457726"/>
            <a:ext cx="236234" cy="189012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58490457-EDCC-4982-9DE3-E7B0ABB13DA7}"/>
              </a:ext>
            </a:extLst>
          </p:cNvPr>
          <p:cNvSpPr>
            <a:spLocks noGrp="1"/>
          </p:cNvSpPr>
          <p:nvPr/>
        </p:nvSpPr>
        <p:spPr>
          <a:xfrm>
            <a:off x="1275723" y="5426273"/>
            <a:ext cx="10675075" cy="302419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sz="1450" dirty="0" err="1">
                <a:solidFill>
                  <a:srgbClr val="000000"/>
                </a:solidFill>
                <a:latin typeface="Inter"/>
                <a:ea typeface="Inter"/>
                <a:cs typeface="Inter"/>
              </a:rPr>
              <a:t>Основной</a:t>
            </a:r>
            <a:r>
              <a:rPr sz="1450" dirty="0">
                <a:solidFill>
                  <a:srgbClr val="000000"/>
                </a:solidFill>
                <a:latin typeface="Inter"/>
                <a:ea typeface="Inter"/>
                <a:cs typeface="Inter"/>
              </a:rPr>
              <a:t> </a:t>
            </a:r>
            <a:r>
              <a:rPr sz="1450" dirty="0" err="1">
                <a:solidFill>
                  <a:srgbClr val="000000"/>
                </a:solidFill>
                <a:latin typeface="Inter"/>
                <a:ea typeface="Inter"/>
                <a:cs typeface="Inter"/>
              </a:rPr>
              <a:t>интерфейс</a:t>
            </a:r>
            <a:r>
              <a:rPr sz="1450" dirty="0">
                <a:solidFill>
                  <a:srgbClr val="000000"/>
                </a:solidFill>
                <a:latin typeface="Inter"/>
                <a:ea typeface="Inter"/>
                <a:cs typeface="Inter"/>
              </a:rPr>
              <a:t> </a:t>
            </a:r>
            <a:r>
              <a:rPr sz="1450" dirty="0" err="1">
                <a:solidFill>
                  <a:srgbClr val="000000"/>
                </a:solidFill>
                <a:latin typeface="Inter"/>
                <a:ea typeface="Inter"/>
                <a:cs typeface="Inter"/>
              </a:rPr>
              <a:t>ориентирован</a:t>
            </a:r>
            <a:r>
              <a:rPr sz="1450" dirty="0">
                <a:solidFill>
                  <a:srgbClr val="000000"/>
                </a:solidFill>
                <a:latin typeface="Inter"/>
                <a:ea typeface="Inter"/>
                <a:cs typeface="Inter"/>
              </a:rPr>
              <a:t> </a:t>
            </a:r>
            <a:r>
              <a:rPr sz="1450" dirty="0" err="1">
                <a:solidFill>
                  <a:srgbClr val="000000"/>
                </a:solidFill>
                <a:latin typeface="Inter"/>
                <a:ea typeface="Inter"/>
                <a:cs typeface="Inter"/>
              </a:rPr>
              <a:t>на</a:t>
            </a:r>
            <a:r>
              <a:rPr sz="1450" dirty="0">
                <a:solidFill>
                  <a:srgbClr val="000000"/>
                </a:solidFill>
                <a:latin typeface="Inter"/>
                <a:ea typeface="Inter"/>
                <a:cs typeface="Inter"/>
              </a:rPr>
              <a:t> </a:t>
            </a:r>
            <a:r>
              <a:rPr sz="1450" dirty="0" err="1">
                <a:solidFill>
                  <a:srgbClr val="000000"/>
                </a:solidFill>
                <a:latin typeface="Inter"/>
                <a:ea typeface="Inter"/>
                <a:cs typeface="Inter"/>
              </a:rPr>
              <a:t>жителя</a:t>
            </a:r>
            <a:r>
              <a:rPr lang="en-US" sz="1450" dirty="0">
                <a:solidFill>
                  <a:srgbClr val="000000"/>
                </a:solidFill>
                <a:latin typeface="Inter"/>
                <a:ea typeface="Inter"/>
                <a:cs typeface="Inter"/>
              </a:rPr>
              <a:t> </a:t>
            </a:r>
            <a:r>
              <a:rPr sz="1450" dirty="0" err="1">
                <a:solidFill>
                  <a:srgbClr val="000000"/>
                </a:solidFill>
                <a:latin typeface="Inter"/>
                <a:ea typeface="Inter"/>
                <a:cs typeface="Inter"/>
              </a:rPr>
              <a:t>и</a:t>
            </a:r>
            <a:r>
              <a:rPr lang="en-US" sz="1450" dirty="0">
                <a:solidFill>
                  <a:srgbClr val="000000"/>
                </a:solidFill>
                <a:latin typeface="Inter"/>
                <a:ea typeface="Inter"/>
                <a:cs typeface="Inter"/>
              </a:rPr>
              <a:t> </a:t>
            </a:r>
            <a:r>
              <a:rPr lang="ru-RU" sz="1450" dirty="0">
                <a:solidFill>
                  <a:srgbClr val="000000"/>
                </a:solidFill>
                <a:latin typeface="Inter"/>
                <a:ea typeface="Inter"/>
                <a:cs typeface="Inter"/>
              </a:rPr>
              <a:t>представителя </a:t>
            </a:r>
            <a:r>
              <a:rPr sz="1450" dirty="0" err="1">
                <a:solidFill>
                  <a:srgbClr val="000000"/>
                </a:solidFill>
                <a:latin typeface="Inter"/>
                <a:ea typeface="Inter"/>
                <a:cs typeface="Inter"/>
              </a:rPr>
              <a:t>управлени</a:t>
            </a:r>
            <a:r>
              <a:rPr lang="ru-RU" sz="1450" dirty="0">
                <a:solidFill>
                  <a:srgbClr val="000000"/>
                </a:solidFill>
                <a:latin typeface="Inter"/>
                <a:ea typeface="Inter"/>
                <a:cs typeface="Inter"/>
              </a:rPr>
              <a:t>я</a:t>
            </a:r>
            <a:endParaRPr sz="1450" dirty="0">
              <a:solidFill>
                <a:srgbClr val="000000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4E8CAE1-64EB-146E-E0D2-CF9A4568AC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9600" y="6267226"/>
            <a:ext cx="14224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961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4A1DF0-64AA-4C74-8A75-1B5D0CBF58A0}"/>
              </a:ext>
            </a:extLst>
          </p:cNvPr>
          <p:cNvSpPr>
            <a:spLocks noGrp="1"/>
          </p:cNvSpPr>
          <p:nvPr/>
        </p:nvSpPr>
        <p:spPr>
          <a:xfrm>
            <a:off x="657225" y="523875"/>
            <a:ext cx="10877550" cy="590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3300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3300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Нужный сервис — за несколько действий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5132501-1ED9-4895-9FE4-6A0265EC3E7F}"/>
              </a:ext>
            </a:extLst>
          </p:cNvPr>
          <p:cNvSpPr>
            <a:spLocks noGrp="1"/>
          </p:cNvSpPr>
          <p:nvPr/>
        </p:nvSpPr>
        <p:spPr>
          <a:xfrm>
            <a:off x="6048375" y="1685925"/>
            <a:ext cx="5476875" cy="361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2175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2175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13 действий · 4 группы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BA3043E-A4D1-4BA4-ACAB-C51625BD680D}"/>
              </a:ext>
            </a:extLst>
          </p:cNvPr>
          <p:cNvSpPr>
            <a:spLocks noGrp="1"/>
          </p:cNvSpPr>
          <p:nvPr/>
        </p:nvSpPr>
        <p:spPr>
          <a:xfrm>
            <a:off x="6048375" y="2247900"/>
            <a:ext cx="533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800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Поиск понимает бытовые запросы:</a:t>
            </a:r>
          </a:p>
          <a:p>
            <a:pPr marL="0" indent="0" algn="l">
              <a:lnSpc>
                <a:spcPct val="114000"/>
              </a:lnSpc>
              <a:buNone/>
              <a:defRPr sz="1800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«счётчик», «пропуск», «барахолка».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D0558DF-F2A4-4964-B6DC-07CBF154F80E}"/>
              </a:ext>
            </a:extLst>
          </p:cNvPr>
          <p:cNvSpPr>
            <a:spLocks noGrp="1"/>
          </p:cNvSpPr>
          <p:nvPr/>
        </p:nvSpPr>
        <p:spPr>
          <a:xfrm>
            <a:off x="6048375" y="3181350"/>
            <a:ext cx="5334000" cy="1581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64160" indent="-264160" algn="l">
              <a:lnSpc>
                <a:spcPct val="114000"/>
              </a:lnSpc>
              <a:buChar char="•"/>
              <a:defRPr sz="1875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Дом и платежи</a:t>
            </a:r>
          </a:p>
          <a:p>
            <a:pPr marL="264160" indent="-264160" algn="l">
              <a:lnSpc>
                <a:spcPct val="114000"/>
              </a:lnSpc>
              <a:buChar char="•"/>
              <a:defRPr sz="1875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Автомобиль</a:t>
            </a:r>
          </a:p>
          <a:p>
            <a:pPr marL="264160" indent="-264160" algn="l">
              <a:lnSpc>
                <a:spcPct val="114000"/>
              </a:lnSpc>
              <a:buChar char="•"/>
              <a:defRPr sz="1875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Соседи</a:t>
            </a:r>
          </a:p>
          <a:p>
            <a:pPr marL="264160" indent="-264160" algn="l">
              <a:lnSpc>
                <a:spcPct val="114000"/>
              </a:lnSpc>
              <a:buChar char="•"/>
              <a:defRPr sz="1875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Помощь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5CB0AB2-54D3-4568-B5BE-3FC58879CB79}"/>
              </a:ext>
            </a:extLst>
          </p:cNvPr>
          <p:cNvSpPr>
            <a:spLocks noGrp="1"/>
          </p:cNvSpPr>
          <p:nvPr/>
        </p:nvSpPr>
        <p:spPr>
          <a:xfrm>
            <a:off x="6048375" y="5248275"/>
            <a:ext cx="5381625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650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1650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Главная → Сервисы → Заявки → Профиль</a:t>
            </a: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2603" y="1381125"/>
            <a:ext cx="2153345" cy="4667250"/>
          </a:xfrm>
          <a:prstGeom prst="roundRect">
            <a:avLst>
              <a:gd name="adj" fmla="val 5882"/>
            </a:avLst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247678" y="1381125"/>
            <a:ext cx="2153345" cy="4667250"/>
          </a:xfrm>
          <a:prstGeom prst="roundRect">
            <a:avLst>
              <a:gd name="adj" fmla="val 5882"/>
            </a:avLst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B1C7D92-6E4F-F205-585C-A6283BA2B0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6248400"/>
            <a:ext cx="14224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914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3071415-9827-4158-B541-553221F376D5}"/>
              </a:ext>
            </a:extLst>
          </p:cNvPr>
          <p:cNvSpPr>
            <a:spLocks noGrp="1"/>
          </p:cNvSpPr>
          <p:nvPr/>
        </p:nvSpPr>
        <p:spPr>
          <a:xfrm>
            <a:off x="657225" y="523875"/>
            <a:ext cx="10877550" cy="590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3300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3300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Шесть направлений уже работают в MVP</a:t>
            </a:r>
          </a:p>
        </p:txBody>
      </p:sp>
      <p:pic>
        <p:nvPicPr>
          <p:cNvPr id="28" name="Image 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540371"/>
            <a:ext cx="5349047" cy="1632843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B2AAB304-589E-42DF-829E-ADF9D35544CA}"/>
              </a:ext>
            </a:extLst>
          </p:cNvPr>
          <p:cNvSpPr>
            <a:spLocks noGrp="1"/>
          </p:cNvSpPr>
          <p:nvPr/>
        </p:nvSpPr>
        <p:spPr>
          <a:xfrm>
            <a:off x="962025" y="1743075"/>
            <a:ext cx="483870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875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1875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01  Заявки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EACCECE-13C7-4E2F-A88F-3486AD320320}"/>
              </a:ext>
            </a:extLst>
          </p:cNvPr>
          <p:cNvSpPr>
            <a:spLocks noGrp="1"/>
          </p:cNvSpPr>
          <p:nvPr/>
        </p:nvSpPr>
        <p:spPr>
          <a:xfrm>
            <a:off x="962025" y="2171700"/>
            <a:ext cx="4838700" cy="8096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575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Создание, фильтры и голоса соседей.</a:t>
            </a:r>
          </a:p>
          <a:p>
            <a:pPr marL="0" indent="0" algn="l">
              <a:lnSpc>
                <a:spcPct val="114000"/>
              </a:lnSpc>
              <a:buNone/>
              <a:defRPr sz="1575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Изменения сохраняются в PostgreSQL.</a:t>
            </a:r>
          </a:p>
        </p:txBody>
      </p:sp>
      <p:pic>
        <p:nvPicPr>
          <p:cNvPr id="31" name="Image 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1074" y="1540371"/>
            <a:ext cx="5349146" cy="1632843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9E90BD6E-825A-49B7-96E8-3A8EA93E3162}"/>
              </a:ext>
            </a:extLst>
          </p:cNvPr>
          <p:cNvSpPr>
            <a:spLocks noGrp="1"/>
          </p:cNvSpPr>
          <p:nvPr/>
        </p:nvSpPr>
        <p:spPr>
          <a:xfrm>
            <a:off x="6486525" y="1743075"/>
            <a:ext cx="483870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875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1875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02  Гостевой пропуск</a:t>
            </a: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8BB8532B-3BB8-49AE-94BF-DFADB61E7D93}"/>
              </a:ext>
            </a:extLst>
          </p:cNvPr>
          <p:cNvSpPr>
            <a:spLocks noGrp="1"/>
          </p:cNvSpPr>
          <p:nvPr/>
        </p:nvSpPr>
        <p:spPr>
          <a:xfrm>
            <a:off x="6486525" y="2171700"/>
            <a:ext cx="4838700" cy="8096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575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Дата приезда, срок, QR и архив.</a:t>
            </a:r>
          </a:p>
          <a:p>
            <a:pPr marL="0" indent="0" algn="l">
              <a:lnSpc>
                <a:spcPct val="114000"/>
              </a:lnSpc>
              <a:buNone/>
              <a:defRPr sz="1575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Пропуск можно открыть повторно и отменить.</a:t>
            </a:r>
          </a:p>
        </p:txBody>
      </p:sp>
      <p:pic>
        <p:nvPicPr>
          <p:cNvPr id="34" name="Image 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343771"/>
            <a:ext cx="5349047" cy="1352748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FBF82295-675D-422E-947B-E582CE65E1B6}"/>
              </a:ext>
            </a:extLst>
          </p:cNvPr>
          <p:cNvSpPr>
            <a:spLocks noGrp="1"/>
          </p:cNvSpPr>
          <p:nvPr/>
        </p:nvSpPr>
        <p:spPr>
          <a:xfrm>
            <a:off x="962025" y="3552825"/>
            <a:ext cx="483870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875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1875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03  ЖКУ и счётчики</a:t>
            </a: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3DBB4FF4-03D3-4A18-953A-3C22F9C9F366}"/>
              </a:ext>
            </a:extLst>
          </p:cNvPr>
          <p:cNvSpPr>
            <a:spLocks noGrp="1"/>
          </p:cNvSpPr>
          <p:nvPr/>
        </p:nvSpPr>
        <p:spPr>
          <a:xfrm>
            <a:off x="962025" y="3981450"/>
            <a:ext cx="4838700" cy="8096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575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Квитанции и передача показаний.</a:t>
            </a:r>
          </a:p>
          <a:p>
            <a:pPr marL="0" indent="0" algn="l">
              <a:lnSpc>
                <a:spcPct val="114000"/>
              </a:lnSpc>
              <a:buNone/>
              <a:defRPr sz="1575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Оплата — демонстрационная.</a:t>
            </a:r>
          </a:p>
        </p:txBody>
      </p:sp>
      <p:pic>
        <p:nvPicPr>
          <p:cNvPr id="37" name="Image 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81074" y="3343771"/>
            <a:ext cx="5349146" cy="1352748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DC7771BE-F35E-43CE-A54C-30824A489DCA}"/>
              </a:ext>
            </a:extLst>
          </p:cNvPr>
          <p:cNvSpPr>
            <a:spLocks noGrp="1"/>
          </p:cNvSpPr>
          <p:nvPr/>
        </p:nvSpPr>
        <p:spPr>
          <a:xfrm>
            <a:off x="6486525" y="3552825"/>
            <a:ext cx="483870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875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1875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04  Сообщество</a:t>
            </a: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DCBA1EC2-81C9-443A-8CCD-CC82E75FCF3C}"/>
              </a:ext>
            </a:extLst>
          </p:cNvPr>
          <p:cNvSpPr>
            <a:spLocks noGrp="1"/>
          </p:cNvSpPr>
          <p:nvPr/>
        </p:nvSpPr>
        <p:spPr>
          <a:xfrm>
            <a:off x="6486525" y="3981450"/>
            <a:ext cx="4838700" cy="8096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575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Лента, комментарии и объявления.</a:t>
            </a:r>
          </a:p>
          <a:p>
            <a:pPr marL="0" indent="0" algn="l">
              <a:lnSpc>
                <a:spcPct val="114000"/>
              </a:lnSpc>
              <a:buNone/>
              <a:defRPr sz="1575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Собрания — выбор удобного времени.</a:t>
            </a:r>
          </a:p>
        </p:txBody>
      </p:sp>
      <p:pic>
        <p:nvPicPr>
          <p:cNvPr id="40" name="Image 4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867077"/>
            <a:ext cx="5349047" cy="1352748"/>
          </a:xfrm>
          <a:prstGeom prst="rect">
            <a:avLst/>
          </a:prstGeom>
        </p:spPr>
      </p:pic>
      <p:sp>
        <p:nvSpPr>
          <p:cNvPr id="16" name="Text 9">
            <a:extLst>
              <a:ext uri="{FF2B5EF4-FFF2-40B4-BE49-F238E27FC236}">
                <a16:creationId xmlns:a16="http://schemas.microsoft.com/office/drawing/2014/main" id="{A244567C-6CBA-4D61-80DD-969A5F4C96FB}"/>
              </a:ext>
            </a:extLst>
          </p:cNvPr>
          <p:cNvSpPr>
            <a:spLocks noGrp="1"/>
          </p:cNvSpPr>
          <p:nvPr/>
        </p:nvSpPr>
        <p:spPr>
          <a:xfrm>
            <a:off x="962025" y="5076825"/>
            <a:ext cx="483870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875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1875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05  MAX-бот</a:t>
            </a: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88EB13BC-C4BB-4F44-806B-704989ADBC19}"/>
              </a:ext>
            </a:extLst>
          </p:cNvPr>
          <p:cNvSpPr>
            <a:spLocks noGrp="1"/>
          </p:cNvSpPr>
          <p:nvPr/>
        </p:nvSpPr>
        <p:spPr>
          <a:xfrm>
            <a:off x="962025" y="5505450"/>
            <a:ext cx="4838700" cy="8096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575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Команды, webhook и очередь событий.</a:t>
            </a:r>
          </a:p>
          <a:p>
            <a:pPr marL="0" indent="0" algn="l">
              <a:lnSpc>
                <a:spcPct val="114000"/>
              </a:lnSpc>
              <a:buNone/>
              <a:defRPr sz="1575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Повторные попытки при ошибках доставки.</a:t>
            </a:r>
          </a:p>
        </p:txBody>
      </p:sp>
      <p:pic>
        <p:nvPicPr>
          <p:cNvPr id="43" name="Image 5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81074" y="4867077"/>
            <a:ext cx="5349146" cy="1352748"/>
          </a:xfrm>
          <a:prstGeom prst="rect">
            <a:avLst/>
          </a:prstGeom>
        </p:spPr>
      </p:pic>
      <p:sp>
        <p:nvSpPr>
          <p:cNvPr id="19" name="Text 11">
            <a:extLst>
              <a:ext uri="{FF2B5EF4-FFF2-40B4-BE49-F238E27FC236}">
                <a16:creationId xmlns:a16="http://schemas.microsoft.com/office/drawing/2014/main" id="{BAE73802-AFF3-4A2B-B69F-77D5B30FC298}"/>
              </a:ext>
            </a:extLst>
          </p:cNvPr>
          <p:cNvSpPr>
            <a:spLocks noGrp="1"/>
          </p:cNvSpPr>
          <p:nvPr/>
        </p:nvSpPr>
        <p:spPr>
          <a:xfrm>
            <a:off x="6486525" y="5076825"/>
            <a:ext cx="4838700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875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1875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06  Помощь</a:t>
            </a:r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B95C1869-8FEC-4F70-9053-FD0B160C8001}"/>
              </a:ext>
            </a:extLst>
          </p:cNvPr>
          <p:cNvSpPr>
            <a:spLocks noGrp="1"/>
          </p:cNvSpPr>
          <p:nvPr/>
        </p:nvSpPr>
        <p:spPr>
          <a:xfrm>
            <a:off x="6486525" y="5505450"/>
            <a:ext cx="4838700" cy="8096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575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Отключения, контакты и SOS.</a:t>
            </a:r>
          </a:p>
          <a:p>
            <a:pPr marL="0" indent="0" algn="l">
              <a:lnSpc>
                <a:spcPct val="114000"/>
              </a:lnSpc>
              <a:buNone/>
              <a:defRPr sz="1575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Сообщения соседям — демо доставки.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70C2ECF-F43F-14EE-EE0B-4219F766BC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8800" y="6248400"/>
            <a:ext cx="14224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1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9AFD0FA-2D4A-42D9-9901-9288BE87F240}"/>
              </a:ext>
            </a:extLst>
          </p:cNvPr>
          <p:cNvSpPr>
            <a:spLocks noGrp="1"/>
          </p:cNvSpPr>
          <p:nvPr/>
        </p:nvSpPr>
        <p:spPr>
          <a:xfrm>
            <a:off x="657225" y="523875"/>
            <a:ext cx="10877550" cy="590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3300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3300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Одна проблема — одна общая заявка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3730EFF-395B-4996-B809-184B65FEDE4C}"/>
              </a:ext>
            </a:extLst>
          </p:cNvPr>
          <p:cNvSpPr>
            <a:spLocks noGrp="1"/>
          </p:cNvSpPr>
          <p:nvPr/>
        </p:nvSpPr>
        <p:spPr>
          <a:xfrm>
            <a:off x="657225" y="1200150"/>
            <a:ext cx="10868025" cy="3333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650" b="0">
                <a:solidFill>
                  <a:srgbClr val="57677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57677C"/>
                </a:solidFill>
                <a:latin typeface="Inter"/>
                <a:ea typeface="Inter"/>
                <a:cs typeface="Inter"/>
              </a:rPr>
              <a:t>Создать обращение или подтвердить проблему соседа</a:t>
            </a: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05EAB08A-85D6-43B8-A6B8-E3D7648C7FEB}"/>
              </a:ext>
            </a:extLst>
          </p:cNvPr>
          <p:cNvSpPr>
            <a:spLocks noGrp="1"/>
          </p:cNvSpPr>
          <p:nvPr/>
        </p:nvSpPr>
        <p:spPr>
          <a:xfrm>
            <a:off x="657225" y="5610225"/>
            <a:ext cx="560070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575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1575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Публичная карточка: статус, мастер и коллективные голоса</a:t>
            </a:r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7225" y="2071149"/>
            <a:ext cx="5572125" cy="3430077"/>
          </a:xfrm>
          <a:prstGeom prst="roundRect">
            <a:avLst>
              <a:gd name="adj" fmla="val 3836"/>
            </a:avLst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555900" y="1552575"/>
            <a:ext cx="2109399" cy="4572000"/>
          </a:xfrm>
          <a:prstGeom prst="roundRect">
            <a:avLst>
              <a:gd name="adj" fmla="val 4046"/>
            </a:avLst>
          </a:prstGeom>
        </p:spPr>
      </p:pic>
      <p:sp>
        <p:nvSpPr>
          <p:cNvPr id="13" name="ticket-caption">
            <a:extLst>
              <a:ext uri="{FF2B5EF4-FFF2-40B4-BE49-F238E27FC236}">
                <a16:creationId xmlns:a16="http://schemas.microsoft.com/office/drawing/2014/main" id="{A95F8AA1-9C83-45FC-A878-3DC71586CD2B}"/>
              </a:ext>
            </a:extLst>
          </p:cNvPr>
          <p:cNvSpPr>
            <a:spLocks noGrp="1"/>
          </p:cNvSpPr>
          <p:nvPr/>
        </p:nvSpPr>
        <p:spPr>
          <a:xfrm>
            <a:off x="7096125" y="6191250"/>
            <a:ext cx="38576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425" b="0">
                <a:solidFill>
                  <a:srgbClr val="57677C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57677C"/>
                </a:solidFill>
                <a:latin typeface="Inter"/>
                <a:ea typeface="Inter"/>
                <a:cs typeface="Inter"/>
              </a:rPr>
              <a:t>Форма нового обращения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82BEDEC-F4B9-5CC2-CD39-EBC37FF57B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6248400"/>
            <a:ext cx="14224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252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9AFD0FA-2D4A-42D9-9901-9288BE87F240}"/>
              </a:ext>
            </a:extLst>
          </p:cNvPr>
          <p:cNvSpPr>
            <a:spLocks noGrp="1"/>
          </p:cNvSpPr>
          <p:nvPr/>
        </p:nvSpPr>
        <p:spPr>
          <a:xfrm>
            <a:off x="657225" y="523875"/>
            <a:ext cx="10877550" cy="590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3300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3300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Пропуск гостю: оформить, открыть, сохранить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3730EFF-395B-4996-B809-184B65FEDE4C}"/>
              </a:ext>
            </a:extLst>
          </p:cNvPr>
          <p:cNvSpPr>
            <a:spLocks noGrp="1"/>
          </p:cNvSpPr>
          <p:nvPr/>
        </p:nvSpPr>
        <p:spPr>
          <a:xfrm>
            <a:off x="657225" y="1171575"/>
            <a:ext cx="10868025" cy="3333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650" b="0">
                <a:solidFill>
                  <a:srgbClr val="57677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57677C"/>
                </a:solidFill>
                <a:latin typeface="Inter"/>
                <a:ea typeface="Inter"/>
                <a:cs typeface="Inter"/>
              </a:rPr>
              <a:t>Весь путь реализован в интерфейсе и PostgreSQL</a:t>
            </a: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05EAB08A-85D6-43B8-A6B8-E3D7648C7FEB}"/>
              </a:ext>
            </a:extLst>
          </p:cNvPr>
          <p:cNvSpPr>
            <a:spLocks noGrp="1"/>
          </p:cNvSpPr>
          <p:nvPr/>
        </p:nvSpPr>
        <p:spPr>
          <a:xfrm>
            <a:off x="657225" y="6286500"/>
            <a:ext cx="10668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350" b="0">
                <a:solidFill>
                  <a:srgbClr val="57677C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7677C"/>
                </a:solidFill>
                <a:latin typeface="Inter"/>
                <a:ea typeface="Inter"/>
                <a:cs typeface="Inter"/>
              </a:rPr>
              <a:t>Шлагбаум не подключён: QR сейчас идентифицирует сохранённый пропуск.</a:t>
            </a:r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44476" y="1657350"/>
            <a:ext cx="1968773" cy="4267200"/>
          </a:xfrm>
          <a:prstGeom prst="roundRect">
            <a:avLst>
              <a:gd name="adj" fmla="val 4912"/>
            </a:avLst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867240" y="1657350"/>
            <a:ext cx="2276546" cy="4267200"/>
          </a:xfrm>
          <a:prstGeom prst="roundRect">
            <a:avLst>
              <a:gd name="adj" fmla="val 5323"/>
            </a:avLst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793026" y="1657350"/>
            <a:ext cx="1968773" cy="4267200"/>
          </a:xfrm>
          <a:prstGeom prst="roundRect">
            <a:avLst>
              <a:gd name="adj" fmla="val 5323"/>
            </a:avLst>
          </a:prstGeom>
        </p:spPr>
      </p:pic>
      <p:sp>
        <p:nvSpPr>
          <p:cNvPr id="15" name="parking-step-0">
            <a:extLst>
              <a:ext uri="{FF2B5EF4-FFF2-40B4-BE49-F238E27FC236}">
                <a16:creationId xmlns:a16="http://schemas.microsoft.com/office/drawing/2014/main" id="{D668723F-E8C4-4017-81AD-2A9342722299}"/>
              </a:ext>
            </a:extLst>
          </p:cNvPr>
          <p:cNvSpPr>
            <a:spLocks noGrp="1"/>
          </p:cNvSpPr>
          <p:nvPr/>
        </p:nvSpPr>
        <p:spPr>
          <a:xfrm>
            <a:off x="971550" y="5962650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650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1650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01  Дата и срок</a:t>
            </a:r>
          </a:p>
        </p:txBody>
      </p:sp>
      <p:sp>
        <p:nvSpPr>
          <p:cNvPr id="16" name="parking-step-1">
            <a:extLst>
              <a:ext uri="{FF2B5EF4-FFF2-40B4-BE49-F238E27FC236}">
                <a16:creationId xmlns:a16="http://schemas.microsoft.com/office/drawing/2014/main" id="{1A52C0AF-6C4D-4596-95FA-B6C27DBDD62B}"/>
              </a:ext>
            </a:extLst>
          </p:cNvPr>
          <p:cNvSpPr>
            <a:spLocks noGrp="1"/>
          </p:cNvSpPr>
          <p:nvPr/>
        </p:nvSpPr>
        <p:spPr>
          <a:xfrm>
            <a:off x="4733925" y="5962650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650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1650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02  QR и код</a:t>
            </a:r>
          </a:p>
        </p:txBody>
      </p:sp>
      <p:sp>
        <p:nvSpPr>
          <p:cNvPr id="17" name="parking-step-2">
            <a:extLst>
              <a:ext uri="{FF2B5EF4-FFF2-40B4-BE49-F238E27FC236}">
                <a16:creationId xmlns:a16="http://schemas.microsoft.com/office/drawing/2014/main" id="{F3C46D9D-66D3-4768-A871-C8BB1D15F8BF}"/>
              </a:ext>
            </a:extLst>
          </p:cNvPr>
          <p:cNvSpPr>
            <a:spLocks noGrp="1"/>
          </p:cNvSpPr>
          <p:nvPr/>
        </p:nvSpPr>
        <p:spPr>
          <a:xfrm>
            <a:off x="8496300" y="5962650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650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1650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03  Список пропусков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E4C6394-2D55-98F0-D974-71CEA48B23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8800" y="6248400"/>
            <a:ext cx="14224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252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9AFD0FA-2D4A-42D9-9901-9288BE87F240}"/>
              </a:ext>
            </a:extLst>
          </p:cNvPr>
          <p:cNvSpPr>
            <a:spLocks noGrp="1"/>
          </p:cNvSpPr>
          <p:nvPr/>
        </p:nvSpPr>
        <p:spPr>
          <a:xfrm>
            <a:off x="657225" y="523875"/>
            <a:ext cx="10877550" cy="590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3300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3300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Повседневные задачи — в одном приложении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3730EFF-395B-4996-B809-184B65FEDE4C}"/>
              </a:ext>
            </a:extLst>
          </p:cNvPr>
          <p:cNvSpPr>
            <a:spLocks noGrp="1"/>
          </p:cNvSpPr>
          <p:nvPr/>
        </p:nvSpPr>
        <p:spPr>
          <a:xfrm>
            <a:off x="657225" y="1171575"/>
            <a:ext cx="10868025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650" b="0">
                <a:solidFill>
                  <a:srgbClr val="57677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57677C"/>
                </a:solidFill>
                <a:latin typeface="Inter"/>
                <a:ea typeface="Inter"/>
                <a:cs typeface="Inter"/>
              </a:rPr>
              <a:t>Квитанции и показания · собрания · объявления соседей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3260" y="1704975"/>
            <a:ext cx="2043480" cy="4429125"/>
          </a:xfrm>
          <a:prstGeom prst="roundRect">
            <a:avLst>
              <a:gd name="adj" fmla="val 5983"/>
            </a:avLst>
          </a:prstGeom>
        </p:spPr>
      </p:pic>
      <p:sp>
        <p:nvSpPr>
          <p:cNvPr id="14" name="screen-caption-0">
            <a:extLst>
              <a:ext uri="{FF2B5EF4-FFF2-40B4-BE49-F238E27FC236}">
                <a16:creationId xmlns:a16="http://schemas.microsoft.com/office/drawing/2014/main" id="{DF9C329C-8D25-44EC-84DC-5E352C76BAE9}"/>
              </a:ext>
            </a:extLst>
          </p:cNvPr>
          <p:cNvSpPr>
            <a:spLocks noGrp="1"/>
          </p:cNvSpPr>
          <p:nvPr/>
        </p:nvSpPr>
        <p:spPr>
          <a:xfrm>
            <a:off x="1273785" y="6162675"/>
            <a:ext cx="2381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650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1650" b="1" dirty="0" err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Квитанции</a:t>
            </a:r>
            <a:endParaRPr sz="1650" b="1" dirty="0">
              <a:solidFill>
                <a:srgbClr val="005AAA"/>
              </a:solidFill>
              <a:latin typeface="Inter Bold"/>
              <a:ea typeface="Inter Bold"/>
              <a:cs typeface="Inter Bold"/>
            </a:endParaRPr>
          </a:p>
        </p:txBody>
      </p:sp>
      <p:pic>
        <p:nvPicPr>
          <p:cNvPr id="26" name="Рисунок 2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655035" y="1704975"/>
            <a:ext cx="2043480" cy="4429125"/>
          </a:xfrm>
          <a:prstGeom prst="roundRect">
            <a:avLst>
              <a:gd name="adj" fmla="val 5983"/>
            </a:avLst>
          </a:prstGeom>
        </p:spPr>
      </p:pic>
      <p:sp>
        <p:nvSpPr>
          <p:cNvPr id="16" name="screen-caption-1">
            <a:extLst>
              <a:ext uri="{FF2B5EF4-FFF2-40B4-BE49-F238E27FC236}">
                <a16:creationId xmlns:a16="http://schemas.microsoft.com/office/drawing/2014/main" id="{8F9ACC5D-9D1C-4F94-B630-10E24597C2A0}"/>
              </a:ext>
            </a:extLst>
          </p:cNvPr>
          <p:cNvSpPr>
            <a:spLocks noGrp="1"/>
          </p:cNvSpPr>
          <p:nvPr/>
        </p:nvSpPr>
        <p:spPr>
          <a:xfrm>
            <a:off x="4045560" y="6186487"/>
            <a:ext cx="2381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650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1650" b="1" dirty="0" err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Показания</a:t>
            </a:r>
            <a:endParaRPr sz="1650" b="1" dirty="0">
              <a:solidFill>
                <a:srgbClr val="005AAA"/>
              </a:solidFill>
              <a:latin typeface="Inter Bold"/>
              <a:ea typeface="Inter Bold"/>
              <a:cs typeface="Inter Bold"/>
            </a:endParaRPr>
          </a:p>
        </p:txBody>
      </p:sp>
      <p:pic>
        <p:nvPicPr>
          <p:cNvPr id="28" name="Рисунок 2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426810" y="1704975"/>
            <a:ext cx="2043480" cy="4429125"/>
          </a:xfrm>
          <a:prstGeom prst="roundRect">
            <a:avLst>
              <a:gd name="adj" fmla="val 5983"/>
            </a:avLst>
          </a:prstGeom>
        </p:spPr>
      </p:pic>
      <p:sp>
        <p:nvSpPr>
          <p:cNvPr id="18" name="screen-caption-2">
            <a:extLst>
              <a:ext uri="{FF2B5EF4-FFF2-40B4-BE49-F238E27FC236}">
                <a16:creationId xmlns:a16="http://schemas.microsoft.com/office/drawing/2014/main" id="{C8ACDD72-A7E3-4D26-96E1-5CA05EA82B08}"/>
              </a:ext>
            </a:extLst>
          </p:cNvPr>
          <p:cNvSpPr>
            <a:spLocks noGrp="1"/>
          </p:cNvSpPr>
          <p:nvPr/>
        </p:nvSpPr>
        <p:spPr>
          <a:xfrm>
            <a:off x="6849085" y="6186486"/>
            <a:ext cx="2381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650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1650" b="1" dirty="0" err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Собрания</a:t>
            </a:r>
            <a:endParaRPr sz="1650" b="1" dirty="0">
              <a:solidFill>
                <a:srgbClr val="005AAA"/>
              </a:solidFill>
              <a:latin typeface="Inter Bold"/>
              <a:ea typeface="Inter Bold"/>
              <a:cs typeface="Inter Bold"/>
            </a:endParaRPr>
          </a:p>
        </p:txBody>
      </p:sp>
      <p:pic>
        <p:nvPicPr>
          <p:cNvPr id="30" name="Рисунок 2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198585" y="1704975"/>
            <a:ext cx="2043480" cy="4429125"/>
          </a:xfrm>
          <a:prstGeom prst="roundRect">
            <a:avLst>
              <a:gd name="adj" fmla="val 5983"/>
            </a:avLst>
          </a:prstGeom>
        </p:spPr>
      </p:pic>
      <p:sp>
        <p:nvSpPr>
          <p:cNvPr id="20" name="screen-caption-3">
            <a:extLst>
              <a:ext uri="{FF2B5EF4-FFF2-40B4-BE49-F238E27FC236}">
                <a16:creationId xmlns:a16="http://schemas.microsoft.com/office/drawing/2014/main" id="{25F1F5ED-B812-4993-BAA3-C1C8D3F41805}"/>
              </a:ext>
            </a:extLst>
          </p:cNvPr>
          <p:cNvSpPr>
            <a:spLocks noGrp="1"/>
          </p:cNvSpPr>
          <p:nvPr/>
        </p:nvSpPr>
        <p:spPr>
          <a:xfrm>
            <a:off x="9620860" y="6171976"/>
            <a:ext cx="2381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650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1650" b="1" dirty="0" err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Объявления</a:t>
            </a:r>
            <a:endParaRPr sz="1650" b="1" dirty="0">
              <a:solidFill>
                <a:srgbClr val="005AAA"/>
              </a:solidFill>
              <a:latin typeface="Inter Bold"/>
              <a:ea typeface="Inter Bold"/>
              <a:cs typeface="Inter Bold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E28E0BA-9A9E-684D-887C-22541BCC77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8800" y="6248400"/>
            <a:ext cx="14224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252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9AFD0FA-2D4A-42D9-9901-9288BE87F240}"/>
              </a:ext>
            </a:extLst>
          </p:cNvPr>
          <p:cNvSpPr>
            <a:spLocks noGrp="1"/>
          </p:cNvSpPr>
          <p:nvPr/>
        </p:nvSpPr>
        <p:spPr>
          <a:xfrm>
            <a:off x="657225" y="523875"/>
            <a:ext cx="10877550" cy="590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3300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3300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Дом — это ещё и люди рядом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3730EFF-395B-4996-B809-184B65FEDE4C}"/>
              </a:ext>
            </a:extLst>
          </p:cNvPr>
          <p:cNvSpPr>
            <a:spLocks noGrp="1"/>
          </p:cNvSpPr>
          <p:nvPr/>
        </p:nvSpPr>
        <p:spPr>
          <a:xfrm>
            <a:off x="657225" y="1171575"/>
            <a:ext cx="10868025" cy="323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650" b="0">
                <a:solidFill>
                  <a:srgbClr val="57677C"/>
                </a:solidFill>
                <a:latin typeface="Inter"/>
                <a:ea typeface="Inter"/>
                <a:cs typeface="Inter"/>
              </a:defRPr>
            </a:pPr>
            <a:r>
              <a:rPr sz="1650" b="0" dirty="0" err="1">
                <a:solidFill>
                  <a:srgbClr val="57677C"/>
                </a:solidFill>
                <a:latin typeface="Inter"/>
                <a:ea typeface="Inter"/>
                <a:cs typeface="Inter"/>
              </a:rPr>
              <a:t>Новости</a:t>
            </a:r>
            <a:r>
              <a:rPr sz="1650" b="0" dirty="0">
                <a:solidFill>
                  <a:srgbClr val="57677C"/>
                </a:solidFill>
                <a:latin typeface="Inter"/>
                <a:ea typeface="Inter"/>
                <a:cs typeface="Inter"/>
              </a:rPr>
              <a:t> </a:t>
            </a:r>
            <a:r>
              <a:rPr sz="1650" b="0" dirty="0" err="1">
                <a:solidFill>
                  <a:srgbClr val="57677C"/>
                </a:solidFill>
                <a:latin typeface="Inter"/>
                <a:ea typeface="Inter"/>
                <a:cs typeface="Inter"/>
              </a:rPr>
              <a:t>и</a:t>
            </a:r>
            <a:r>
              <a:rPr sz="1650" b="0" dirty="0">
                <a:solidFill>
                  <a:srgbClr val="57677C"/>
                </a:solidFill>
                <a:latin typeface="Inter"/>
                <a:ea typeface="Inter"/>
                <a:cs typeface="Inter"/>
              </a:rPr>
              <a:t> </a:t>
            </a:r>
            <a:r>
              <a:rPr sz="1650" b="0" dirty="0" err="1">
                <a:solidFill>
                  <a:srgbClr val="57677C"/>
                </a:solidFill>
                <a:latin typeface="Inter"/>
                <a:ea typeface="Inter"/>
                <a:cs typeface="Inter"/>
              </a:rPr>
              <a:t>обсуждения</a:t>
            </a:r>
            <a:r>
              <a:rPr sz="1650" b="0" dirty="0">
                <a:solidFill>
                  <a:srgbClr val="57677C"/>
                </a:solidFill>
                <a:latin typeface="Inter"/>
                <a:ea typeface="Inter"/>
                <a:cs typeface="Inter"/>
              </a:rPr>
              <a:t>, </a:t>
            </a:r>
            <a:r>
              <a:rPr sz="1650" b="0" dirty="0" err="1">
                <a:solidFill>
                  <a:srgbClr val="57677C"/>
                </a:solidFill>
                <a:latin typeface="Inter"/>
                <a:ea typeface="Inter"/>
                <a:cs typeface="Inter"/>
              </a:rPr>
              <a:t>контакты</a:t>
            </a:r>
            <a:r>
              <a:rPr sz="1650" b="0" dirty="0">
                <a:solidFill>
                  <a:srgbClr val="57677C"/>
                </a:solidFill>
                <a:latin typeface="Inter"/>
                <a:ea typeface="Inter"/>
                <a:cs typeface="Inter"/>
              </a:rPr>
              <a:t> </a:t>
            </a:r>
            <a:r>
              <a:rPr sz="1650" b="0" dirty="0" err="1">
                <a:solidFill>
                  <a:srgbClr val="57677C"/>
                </a:solidFill>
                <a:latin typeface="Inter"/>
                <a:ea typeface="Inter"/>
                <a:cs typeface="Inter"/>
              </a:rPr>
              <a:t>служб</a:t>
            </a:r>
            <a:r>
              <a:rPr sz="1650" b="0" dirty="0">
                <a:solidFill>
                  <a:srgbClr val="57677C"/>
                </a:solidFill>
                <a:latin typeface="Inter"/>
                <a:ea typeface="Inter"/>
                <a:cs typeface="Inter"/>
              </a:rPr>
              <a:t> </a:t>
            </a:r>
            <a:r>
              <a:rPr sz="1650" b="0" dirty="0" err="1">
                <a:solidFill>
                  <a:srgbClr val="57677C"/>
                </a:solidFill>
                <a:latin typeface="Inter"/>
                <a:ea typeface="Inter"/>
                <a:cs typeface="Inter"/>
              </a:rPr>
              <a:t>и</a:t>
            </a:r>
            <a:r>
              <a:rPr sz="1650" b="0" dirty="0">
                <a:solidFill>
                  <a:srgbClr val="57677C"/>
                </a:solidFill>
                <a:latin typeface="Inter"/>
                <a:ea typeface="Inter"/>
                <a:cs typeface="Inter"/>
              </a:rPr>
              <a:t> </a:t>
            </a:r>
            <a:r>
              <a:rPr sz="1650" b="0" dirty="0" err="1">
                <a:solidFill>
                  <a:srgbClr val="57677C"/>
                </a:solidFill>
                <a:latin typeface="Inter"/>
                <a:ea typeface="Inter"/>
                <a:cs typeface="Inter"/>
              </a:rPr>
              <a:t>личный</a:t>
            </a:r>
            <a:r>
              <a:rPr sz="1650" b="0" dirty="0">
                <a:solidFill>
                  <a:srgbClr val="57677C"/>
                </a:solidFill>
                <a:latin typeface="Inter"/>
                <a:ea typeface="Inter"/>
                <a:cs typeface="Inter"/>
              </a:rPr>
              <a:t> </a:t>
            </a:r>
            <a:r>
              <a:rPr sz="1650" b="0" dirty="0" err="1">
                <a:solidFill>
                  <a:srgbClr val="57677C"/>
                </a:solidFill>
                <a:latin typeface="Inter"/>
                <a:ea typeface="Inter"/>
                <a:cs typeface="Inter"/>
              </a:rPr>
              <a:t>профиль</a:t>
            </a:r>
            <a:endParaRPr sz="1650" b="0" dirty="0">
              <a:solidFill>
                <a:srgbClr val="57677C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26185" y="1704975"/>
            <a:ext cx="2043480" cy="4429125"/>
          </a:xfrm>
          <a:prstGeom prst="roundRect">
            <a:avLst>
              <a:gd name="adj" fmla="val 5983"/>
            </a:avLst>
          </a:prstGeom>
        </p:spPr>
      </p:pic>
      <p:sp>
        <p:nvSpPr>
          <p:cNvPr id="13" name="screen-caption-0">
            <a:extLst>
              <a:ext uri="{FF2B5EF4-FFF2-40B4-BE49-F238E27FC236}">
                <a16:creationId xmlns:a16="http://schemas.microsoft.com/office/drawing/2014/main" id="{6D801948-3D31-47FC-A043-33DA74314077}"/>
              </a:ext>
            </a:extLst>
          </p:cNvPr>
          <p:cNvSpPr>
            <a:spLocks noGrp="1"/>
          </p:cNvSpPr>
          <p:nvPr/>
        </p:nvSpPr>
        <p:spPr>
          <a:xfrm>
            <a:off x="1685925" y="6153150"/>
            <a:ext cx="3143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650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1650" b="1" dirty="0" err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Лента</a:t>
            </a:r>
            <a:r>
              <a:rPr sz="1650" b="1" dirty="0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 </a:t>
            </a:r>
            <a:r>
              <a:rPr sz="1650" b="1" dirty="0" err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дома</a:t>
            </a:r>
            <a:endParaRPr sz="1650" b="1" dirty="0">
              <a:solidFill>
                <a:srgbClr val="005AAA"/>
              </a:solidFill>
              <a:latin typeface="Inter Bold"/>
              <a:ea typeface="Inter Bold"/>
              <a:cs typeface="Inter Bold"/>
            </a:endParaRPr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159985" y="1704975"/>
            <a:ext cx="2043480" cy="4429125"/>
          </a:xfrm>
          <a:prstGeom prst="roundRect">
            <a:avLst>
              <a:gd name="adj" fmla="val 5983"/>
            </a:avLst>
          </a:prstGeom>
        </p:spPr>
      </p:pic>
      <p:sp>
        <p:nvSpPr>
          <p:cNvPr id="15" name="screen-caption-1">
            <a:extLst>
              <a:ext uri="{FF2B5EF4-FFF2-40B4-BE49-F238E27FC236}">
                <a16:creationId xmlns:a16="http://schemas.microsoft.com/office/drawing/2014/main" id="{7BE7DB4F-3CC5-499F-88C7-25EC15601E25}"/>
              </a:ext>
            </a:extLst>
          </p:cNvPr>
          <p:cNvSpPr>
            <a:spLocks noGrp="1"/>
          </p:cNvSpPr>
          <p:nvPr/>
        </p:nvSpPr>
        <p:spPr>
          <a:xfrm>
            <a:off x="5159985" y="6196012"/>
            <a:ext cx="3143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650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1650" b="1" dirty="0" err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Службы</a:t>
            </a:r>
            <a:r>
              <a:rPr sz="1650" b="1" dirty="0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 </a:t>
            </a:r>
            <a:r>
              <a:rPr sz="1650" b="1" dirty="0" err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и</a:t>
            </a:r>
            <a:r>
              <a:rPr sz="1650" b="1" dirty="0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 </a:t>
            </a:r>
            <a:r>
              <a:rPr sz="1650" b="1" dirty="0" err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контакты</a:t>
            </a:r>
            <a:endParaRPr sz="1650" b="1" dirty="0">
              <a:solidFill>
                <a:srgbClr val="005AAA"/>
              </a:solidFill>
              <a:latin typeface="Inter Bold"/>
              <a:ea typeface="Inter Bold"/>
              <a:cs typeface="Inter Bold"/>
            </a:endParaRP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893785" y="1704975"/>
            <a:ext cx="2043480" cy="4429125"/>
          </a:xfrm>
          <a:prstGeom prst="roundRect">
            <a:avLst>
              <a:gd name="adj" fmla="val 5983"/>
            </a:avLst>
          </a:prstGeom>
        </p:spPr>
      </p:pic>
      <p:sp>
        <p:nvSpPr>
          <p:cNvPr id="17" name="screen-caption-2">
            <a:extLst>
              <a:ext uri="{FF2B5EF4-FFF2-40B4-BE49-F238E27FC236}">
                <a16:creationId xmlns:a16="http://schemas.microsoft.com/office/drawing/2014/main" id="{E5ED08FA-F8DE-4E1D-890A-A113BFDB91A1}"/>
              </a:ext>
            </a:extLst>
          </p:cNvPr>
          <p:cNvSpPr>
            <a:spLocks noGrp="1"/>
          </p:cNvSpPr>
          <p:nvPr/>
        </p:nvSpPr>
        <p:spPr>
          <a:xfrm>
            <a:off x="9048750" y="6153149"/>
            <a:ext cx="3143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650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1650" b="1" dirty="0" err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Профиль</a:t>
            </a:r>
            <a:r>
              <a:rPr sz="1650" b="1" dirty="0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 </a:t>
            </a:r>
            <a:r>
              <a:rPr sz="1650" b="1" dirty="0" err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жителя</a:t>
            </a:r>
            <a:endParaRPr sz="1650" b="1" dirty="0">
              <a:solidFill>
                <a:srgbClr val="005AAA"/>
              </a:solidFill>
              <a:latin typeface="Inter Bold"/>
              <a:ea typeface="Inter Bold"/>
              <a:cs typeface="Inter Bold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B85708A-38D4-23CF-A887-BE5FE3F09F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7264" y="6342028"/>
            <a:ext cx="1203935" cy="515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252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DB66B3E-B810-4176-BA4F-038808EFAFF2}"/>
              </a:ext>
            </a:extLst>
          </p:cNvPr>
          <p:cNvSpPr>
            <a:spLocks noGrp="1"/>
          </p:cNvSpPr>
          <p:nvPr/>
        </p:nvSpPr>
        <p:spPr>
          <a:xfrm>
            <a:off x="657225" y="523875"/>
            <a:ext cx="10877550" cy="590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3300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3300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Архитектура: WebApp и бот, общий backend</a:t>
            </a:r>
          </a:p>
        </p:txBody>
      </p:sp>
      <p:sp>
        <p:nvSpPr>
          <p:cNvPr id="3" name="architecture-sub">
            <a:extLst>
              <a:ext uri="{FF2B5EF4-FFF2-40B4-BE49-F238E27FC236}">
                <a16:creationId xmlns:a16="http://schemas.microsoft.com/office/drawing/2014/main" id="{101E59DE-4C8C-4503-842A-D50F638BF86A}"/>
              </a:ext>
            </a:extLst>
          </p:cNvPr>
          <p:cNvSpPr>
            <a:spLocks noGrp="1"/>
          </p:cNvSpPr>
          <p:nvPr/>
        </p:nvSpPr>
        <p:spPr>
          <a:xfrm>
            <a:off x="657225" y="1152525"/>
            <a:ext cx="108775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650" b="0">
                <a:solidFill>
                  <a:srgbClr val="57677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57677C"/>
                </a:solidFill>
                <a:latin typeface="Inter"/>
                <a:ea typeface="Inter"/>
                <a:cs typeface="Inter"/>
              </a:rPr>
              <a:t>TypeScript на клиенте и сервере · PostgreSQL как единое хранилище</a:t>
            </a:r>
          </a:p>
        </p:txBody>
      </p:sp>
      <p:sp>
        <p:nvSpPr>
          <p:cNvPr id="4" name="webapp">
            <a:extLst>
              <a:ext uri="{FF2B5EF4-FFF2-40B4-BE49-F238E27FC236}">
                <a16:creationId xmlns:a16="http://schemas.microsoft.com/office/drawing/2014/main" id="{DFE5B4D1-4ECC-48B6-839F-EF08567625FD}"/>
              </a:ext>
            </a:extLst>
          </p:cNvPr>
          <p:cNvSpPr>
            <a:spLocks noGrp="1"/>
          </p:cNvSpPr>
          <p:nvPr/>
        </p:nvSpPr>
        <p:spPr>
          <a:xfrm>
            <a:off x="657225" y="1866900"/>
            <a:ext cx="2857500" cy="1428750"/>
          </a:xfrm>
          <a:prstGeom prst="roundRect">
            <a:avLst>
              <a:gd name="adj" fmla="val 8000"/>
            </a:avLst>
          </a:prstGeom>
          <a:solidFill>
            <a:srgbClr val="F2F7FD"/>
          </a:solidFill>
          <a:ln w="14288">
            <a:solidFill>
              <a:srgbClr val="005AAA"/>
            </a:solidFill>
          </a:ln>
        </p:spPr>
        <p:txBody>
          <a:bodyPr wrap="square" lIns="190500" tIns="190500" rIns="171450" bIns="152400" anchor="t">
            <a:noAutofit/>
          </a:bodyPr>
          <a:lstStyle/>
          <a:p>
            <a:pPr>
              <a:spcAft>
                <a:spcPts val="12"/>
              </a:spcAft>
            </a:pPr>
            <a:r>
              <a:rPr sz="1875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WebApp</a:t>
            </a:r>
          </a:p>
          <a:p>
            <a:r>
              <a:rPr sz="1500">
                <a:solidFill>
                  <a:srgbClr val="242834"/>
                </a:solidFill>
                <a:latin typeface="Inter"/>
                <a:ea typeface="Inter"/>
                <a:cs typeface="Inter"/>
              </a:rPr>
              <a:t>React 19 · TypeScript
Vite 8 · Tailwind CSS 4</a:t>
            </a:r>
          </a:p>
        </p:txBody>
      </p:sp>
      <p:sp>
        <p:nvSpPr>
          <p:cNvPr id="5" name="api">
            <a:extLst>
              <a:ext uri="{FF2B5EF4-FFF2-40B4-BE49-F238E27FC236}">
                <a16:creationId xmlns:a16="http://schemas.microsoft.com/office/drawing/2014/main" id="{EB704067-A24F-4FD2-9021-69DD319990CC}"/>
              </a:ext>
            </a:extLst>
          </p:cNvPr>
          <p:cNvSpPr>
            <a:spLocks noGrp="1"/>
          </p:cNvSpPr>
          <p:nvPr/>
        </p:nvSpPr>
        <p:spPr>
          <a:xfrm>
            <a:off x="4467225" y="1866900"/>
            <a:ext cx="3238500" cy="1428750"/>
          </a:xfrm>
          <a:prstGeom prst="roundRect">
            <a:avLst>
              <a:gd name="adj" fmla="val 8000"/>
            </a:avLst>
          </a:prstGeom>
          <a:solidFill>
            <a:srgbClr val="F2F7FD"/>
          </a:solidFill>
          <a:ln w="14288">
            <a:solidFill>
              <a:srgbClr val="005AAA"/>
            </a:solidFill>
          </a:ln>
        </p:spPr>
        <p:txBody>
          <a:bodyPr wrap="square" lIns="190500" tIns="190500" rIns="171450" bIns="152400" anchor="t">
            <a:noAutofit/>
          </a:bodyPr>
          <a:lstStyle/>
          <a:p>
            <a:pPr>
              <a:spcAft>
                <a:spcPts val="12"/>
              </a:spcAft>
            </a:pPr>
            <a:r>
              <a:rPr sz="1875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REST API</a:t>
            </a:r>
          </a:p>
          <a:p>
            <a:r>
              <a:rPr sz="1500">
                <a:solidFill>
                  <a:srgbClr val="242834"/>
                </a:solidFill>
                <a:latin typeface="Inter"/>
                <a:ea typeface="Inter"/>
                <a:cs typeface="Inter"/>
              </a:rPr>
              <a:t>Node.js 22 · Express
Заявки · ЖКУ · парковка</a:t>
            </a:r>
          </a:p>
        </p:txBody>
      </p:sp>
      <p:sp>
        <p:nvSpPr>
          <p:cNvPr id="6" name="records">
            <a:extLst>
              <a:ext uri="{FF2B5EF4-FFF2-40B4-BE49-F238E27FC236}">
                <a16:creationId xmlns:a16="http://schemas.microsoft.com/office/drawing/2014/main" id="{F65A55C2-4FB6-4B07-94F2-08D69B95A38B}"/>
              </a:ext>
            </a:extLst>
          </p:cNvPr>
          <p:cNvSpPr>
            <a:spLocks noGrp="1"/>
          </p:cNvSpPr>
          <p:nvPr/>
        </p:nvSpPr>
        <p:spPr>
          <a:xfrm>
            <a:off x="8658225" y="1866900"/>
            <a:ext cx="2876550" cy="1428750"/>
          </a:xfrm>
          <a:prstGeom prst="roundRect">
            <a:avLst>
              <a:gd name="adj" fmla="val 8000"/>
            </a:avLst>
          </a:prstGeom>
          <a:solidFill>
            <a:srgbClr val="F2F7FD"/>
          </a:solidFill>
          <a:ln w="14288">
            <a:solidFill>
              <a:srgbClr val="007C77"/>
            </a:solidFill>
          </a:ln>
        </p:spPr>
        <p:txBody>
          <a:bodyPr wrap="square" lIns="190500" tIns="190500" rIns="171450" bIns="152400" anchor="t">
            <a:noAutofit/>
          </a:bodyPr>
          <a:lstStyle/>
          <a:p>
            <a:pPr>
              <a:spcAft>
                <a:spcPts val="12"/>
              </a:spcAft>
            </a:pPr>
            <a:r>
              <a:rPr sz="1875" b="1">
                <a:solidFill>
                  <a:srgbClr val="007C77"/>
                </a:solidFill>
                <a:latin typeface="Inter Bold"/>
                <a:ea typeface="Inter Bold"/>
                <a:cs typeface="Inter Bold"/>
              </a:rPr>
              <a:t>PostgreSQL</a:t>
            </a:r>
          </a:p>
          <a:p>
            <a:r>
              <a:rPr sz="1500">
                <a:solidFill>
                  <a:srgbClr val="242834"/>
                </a:solidFill>
                <a:latin typeface="Inter"/>
                <a:ea typeface="Inter"/>
                <a:cs typeface="Inter"/>
              </a:rPr>
              <a:t>SQL + JSONB
users · records</a:t>
            </a:r>
          </a:p>
        </p:txBody>
      </p:sp>
      <p:sp>
        <p:nvSpPr>
          <p:cNvPr id="7" name="max">
            <a:extLst>
              <a:ext uri="{FF2B5EF4-FFF2-40B4-BE49-F238E27FC236}">
                <a16:creationId xmlns:a16="http://schemas.microsoft.com/office/drawing/2014/main" id="{B028DA52-7B1B-4590-90CD-BADAEB97EBEE}"/>
              </a:ext>
            </a:extLst>
          </p:cNvPr>
          <p:cNvSpPr>
            <a:spLocks noGrp="1"/>
          </p:cNvSpPr>
          <p:nvPr/>
        </p:nvSpPr>
        <p:spPr>
          <a:xfrm>
            <a:off x="657225" y="4019550"/>
            <a:ext cx="2857500" cy="1428750"/>
          </a:xfrm>
          <a:prstGeom prst="roundRect">
            <a:avLst>
              <a:gd name="adj" fmla="val 8000"/>
            </a:avLst>
          </a:prstGeom>
          <a:solidFill>
            <a:srgbClr val="F2F7FD"/>
          </a:solidFill>
          <a:ln w="14288">
            <a:solidFill>
              <a:srgbClr val="005AAA"/>
            </a:solidFill>
          </a:ln>
        </p:spPr>
        <p:txBody>
          <a:bodyPr wrap="square" lIns="190500" tIns="190500" rIns="171450" bIns="152400" anchor="t">
            <a:noAutofit/>
          </a:bodyPr>
          <a:lstStyle/>
          <a:p>
            <a:pPr>
              <a:spcAft>
                <a:spcPts val="12"/>
              </a:spcAft>
            </a:pPr>
            <a:r>
              <a:rPr sz="1875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MAX Platform</a:t>
            </a:r>
          </a:p>
          <a:p>
            <a:r>
              <a:rPr sz="1500">
                <a:solidFill>
                  <a:srgbClr val="242834"/>
                </a:solidFill>
                <a:latin typeface="Inter"/>
                <a:ea typeface="Inter"/>
                <a:cs typeface="Inter"/>
              </a:rPr>
              <a:t>Команды и callback
Вход в мини-приложение</a:t>
            </a:r>
          </a:p>
        </p:txBody>
      </p:sp>
      <p:sp>
        <p:nvSpPr>
          <p:cNvPr id="8" name="worker">
            <a:extLst>
              <a:ext uri="{FF2B5EF4-FFF2-40B4-BE49-F238E27FC236}">
                <a16:creationId xmlns:a16="http://schemas.microsoft.com/office/drawing/2014/main" id="{120AD695-F67C-4993-A9DD-CFAC5482EDF0}"/>
              </a:ext>
            </a:extLst>
          </p:cNvPr>
          <p:cNvSpPr>
            <a:spLocks noGrp="1"/>
          </p:cNvSpPr>
          <p:nvPr/>
        </p:nvSpPr>
        <p:spPr>
          <a:xfrm>
            <a:off x="4467225" y="4019550"/>
            <a:ext cx="3238500" cy="1428750"/>
          </a:xfrm>
          <a:prstGeom prst="roundRect">
            <a:avLst>
              <a:gd name="adj" fmla="val 8000"/>
            </a:avLst>
          </a:prstGeom>
          <a:solidFill>
            <a:srgbClr val="F2F7FD"/>
          </a:solidFill>
          <a:ln w="14288">
            <a:solidFill>
              <a:srgbClr val="005AAA"/>
            </a:solidFill>
          </a:ln>
        </p:spPr>
        <p:txBody>
          <a:bodyPr wrap="square" lIns="190500" tIns="190500" rIns="171450" bIns="152400" anchor="t">
            <a:noAutofit/>
          </a:bodyPr>
          <a:lstStyle/>
          <a:p>
            <a:pPr>
              <a:spcAft>
                <a:spcPts val="12"/>
              </a:spcAft>
            </a:pPr>
            <a:r>
              <a:rPr sz="1875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Webhook + Worker</a:t>
            </a:r>
          </a:p>
          <a:p>
            <a:r>
              <a:rPr sz="1500">
                <a:solidFill>
                  <a:srgbClr val="242834"/>
                </a:solidFill>
                <a:latin typeface="Inter"/>
                <a:ea typeface="Inter"/>
                <a:cs typeface="Inter"/>
              </a:rPr>
              <a:t>TypeScript · MAX API client
В том же backend-процессе</a:t>
            </a:r>
          </a:p>
        </p:txBody>
      </p:sp>
      <p:sp>
        <p:nvSpPr>
          <p:cNvPr id="9" name="queue">
            <a:extLst>
              <a:ext uri="{FF2B5EF4-FFF2-40B4-BE49-F238E27FC236}">
                <a16:creationId xmlns:a16="http://schemas.microsoft.com/office/drawing/2014/main" id="{CB5F89A8-3136-4B39-8060-E5D28268ACDE}"/>
              </a:ext>
            </a:extLst>
          </p:cNvPr>
          <p:cNvSpPr>
            <a:spLocks noGrp="1"/>
          </p:cNvSpPr>
          <p:nvPr/>
        </p:nvSpPr>
        <p:spPr>
          <a:xfrm>
            <a:off x="8658225" y="4019550"/>
            <a:ext cx="2876550" cy="1428750"/>
          </a:xfrm>
          <a:prstGeom prst="roundRect">
            <a:avLst>
              <a:gd name="adj" fmla="val 8000"/>
            </a:avLst>
          </a:prstGeom>
          <a:solidFill>
            <a:srgbClr val="F2F7FD"/>
          </a:solidFill>
          <a:ln w="14288">
            <a:solidFill>
              <a:srgbClr val="007C77"/>
            </a:solidFill>
          </a:ln>
        </p:spPr>
        <p:txBody>
          <a:bodyPr wrap="square" lIns="190500" tIns="190500" rIns="171450" bIns="152400" anchor="t">
            <a:noAutofit/>
          </a:bodyPr>
          <a:lstStyle/>
          <a:p>
            <a:pPr>
              <a:spcAft>
                <a:spcPts val="12"/>
              </a:spcAft>
            </a:pPr>
            <a:r>
              <a:rPr sz="1875" b="1">
                <a:solidFill>
                  <a:srgbClr val="007C77"/>
                </a:solidFill>
                <a:latin typeface="Inter Bold"/>
                <a:ea typeface="Inter Bold"/>
                <a:cs typeface="Inter Bold"/>
              </a:rPr>
              <a:t>Очередь бота</a:t>
            </a:r>
          </a:p>
          <a:p>
            <a:r>
              <a:rPr sz="1500">
                <a:solidFill>
                  <a:srgbClr val="242834"/>
                </a:solidFill>
                <a:latin typeface="Inter"/>
                <a:ea typeface="Inter"/>
                <a:cs typeface="Inter"/>
              </a:rPr>
              <a:t>bot_updates · SQL
Статус · попытки · retry</a:t>
            </a:r>
          </a:p>
        </p:txBody>
      </p:sp>
      <p:cxnSp>
        <p:nvCxnSpPr>
          <p:cNvPr id="28" name="Прямая со стрелкой 27"/>
          <p:cNvCxnSpPr>
            <a:stCxn id="4" idx="3"/>
            <a:endCxn id="5" idx="1"/>
          </p:cNvCxnSpPr>
          <p:nvPr/>
        </p:nvCxnSpPr>
        <p:spPr>
          <a:xfrm>
            <a:off x="3514725" y="2581275"/>
            <a:ext cx="952500" cy="0"/>
          </a:xfrm>
          <a:prstGeom prst="straightConnector1">
            <a:avLst/>
          </a:prstGeom>
          <a:ln w="20955">
            <a:solidFill>
              <a:srgbClr val="6A8CAD"/>
            </a:solidFill>
            <a:tailEnd type="triangle" w="med" len="med"/>
          </a:ln>
        </p:spPr>
      </p:cxnSp>
      <p:cxnSp>
        <p:nvCxnSpPr>
          <p:cNvPr id="29" name="Прямая со стрелкой 28"/>
          <p:cNvCxnSpPr>
            <a:stCxn id="5" idx="3"/>
            <a:endCxn id="6" idx="1"/>
          </p:cNvCxnSpPr>
          <p:nvPr/>
        </p:nvCxnSpPr>
        <p:spPr>
          <a:xfrm>
            <a:off x="7705725" y="2581275"/>
            <a:ext cx="952500" cy="0"/>
          </a:xfrm>
          <a:prstGeom prst="straightConnector1">
            <a:avLst/>
          </a:prstGeom>
          <a:ln w="20955">
            <a:solidFill>
              <a:srgbClr val="6A8CAD"/>
            </a:solidFill>
            <a:tailEnd type="triangle" w="med" len="med"/>
          </a:ln>
        </p:spPr>
      </p:cxnSp>
      <p:cxnSp>
        <p:nvCxnSpPr>
          <p:cNvPr id="30" name="Прямая со стрелкой 29"/>
          <p:cNvCxnSpPr>
            <a:stCxn id="7" idx="3"/>
            <a:endCxn id="8" idx="1"/>
          </p:cNvCxnSpPr>
          <p:nvPr/>
        </p:nvCxnSpPr>
        <p:spPr>
          <a:xfrm>
            <a:off x="3514725" y="4733925"/>
            <a:ext cx="952500" cy="0"/>
          </a:xfrm>
          <a:prstGeom prst="straightConnector1">
            <a:avLst/>
          </a:prstGeom>
          <a:ln w="20955">
            <a:solidFill>
              <a:srgbClr val="6A8CAD"/>
            </a:solidFill>
            <a:headEnd type="triangle" w="med" len="med"/>
            <a:tailEnd type="triangle" w="med" len="med"/>
          </a:ln>
        </p:spPr>
      </p:cxnSp>
      <p:cxnSp>
        <p:nvCxnSpPr>
          <p:cNvPr id="31" name="Прямая со стрелкой 30"/>
          <p:cNvCxnSpPr>
            <a:stCxn id="8" idx="3"/>
            <a:endCxn id="9" idx="1"/>
          </p:cNvCxnSpPr>
          <p:nvPr/>
        </p:nvCxnSpPr>
        <p:spPr>
          <a:xfrm>
            <a:off x="7705725" y="4733925"/>
            <a:ext cx="952500" cy="0"/>
          </a:xfrm>
          <a:prstGeom prst="straightConnector1">
            <a:avLst/>
          </a:prstGeom>
          <a:ln w="20955">
            <a:solidFill>
              <a:srgbClr val="6A8CAD"/>
            </a:solidFill>
            <a:headEnd type="triangle" w="med" len="med"/>
            <a:tailEnd type="triangle" w="med" len="med"/>
          </a:ln>
        </p:spPr>
      </p:cxnSp>
      <p:sp>
        <p:nvSpPr>
          <p:cNvPr id="14" name="http-label">
            <a:extLst>
              <a:ext uri="{FF2B5EF4-FFF2-40B4-BE49-F238E27FC236}">
                <a16:creationId xmlns:a16="http://schemas.microsoft.com/office/drawing/2014/main" id="{7BFB2F00-52D0-4717-B045-B41190681E7E}"/>
              </a:ext>
            </a:extLst>
          </p:cNvPr>
          <p:cNvSpPr>
            <a:spLocks noGrp="1"/>
          </p:cNvSpPr>
          <p:nvPr/>
        </p:nvSpPr>
        <p:spPr>
          <a:xfrm>
            <a:off x="3571875" y="2238375"/>
            <a:ext cx="8667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200" b="0">
                <a:solidFill>
                  <a:srgbClr val="57677C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7677C"/>
                </a:solidFill>
                <a:latin typeface="Inter"/>
                <a:ea typeface="Inter"/>
                <a:cs typeface="Inter"/>
              </a:rPr>
              <a:t>REST/JSON</a:t>
            </a:r>
          </a:p>
        </p:txBody>
      </p:sp>
      <p:sp>
        <p:nvSpPr>
          <p:cNvPr id="15" name="sql-label">
            <a:extLst>
              <a:ext uri="{FF2B5EF4-FFF2-40B4-BE49-F238E27FC236}">
                <a16:creationId xmlns:a16="http://schemas.microsoft.com/office/drawing/2014/main" id="{4E8B5396-689C-45EC-AFBB-FB1ED1F799F2}"/>
              </a:ext>
            </a:extLst>
          </p:cNvPr>
          <p:cNvSpPr>
            <a:spLocks noGrp="1"/>
          </p:cNvSpPr>
          <p:nvPr/>
        </p:nvSpPr>
        <p:spPr>
          <a:xfrm>
            <a:off x="7810500" y="2238375"/>
            <a:ext cx="8096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200" b="0">
                <a:solidFill>
                  <a:srgbClr val="57677C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7677C"/>
                </a:solidFill>
                <a:latin typeface="Inter"/>
                <a:ea typeface="Inter"/>
                <a:cs typeface="Inter"/>
              </a:rPr>
              <a:t>pg / SQL</a:t>
            </a:r>
          </a:p>
        </p:txBody>
      </p:sp>
      <p:sp>
        <p:nvSpPr>
          <p:cNvPr id="16" name="max-label">
            <a:extLst>
              <a:ext uri="{FF2B5EF4-FFF2-40B4-BE49-F238E27FC236}">
                <a16:creationId xmlns:a16="http://schemas.microsoft.com/office/drawing/2014/main" id="{D2DDDE46-D52C-4387-AE75-4DDD01CFB6B2}"/>
              </a:ext>
            </a:extLst>
          </p:cNvPr>
          <p:cNvSpPr>
            <a:spLocks noGrp="1"/>
          </p:cNvSpPr>
          <p:nvPr/>
        </p:nvSpPr>
        <p:spPr>
          <a:xfrm>
            <a:off x="3581400" y="4219575"/>
            <a:ext cx="8382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275" b="0">
                <a:solidFill>
                  <a:srgbClr val="57677C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7677C"/>
                </a:solidFill>
                <a:latin typeface="Inter"/>
                <a:ea typeface="Inter"/>
                <a:cs typeface="Inter"/>
              </a:rPr>
              <a:t>Webhook</a:t>
            </a:r>
          </a:p>
          <a:p>
            <a:pPr algn="l">
              <a:lnSpc>
                <a:spcPct val="114000"/>
              </a:lnSpc>
              <a:buNone/>
              <a:defRPr sz="1275" b="0">
                <a:solidFill>
                  <a:srgbClr val="57677C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7677C"/>
                </a:solidFill>
                <a:latin typeface="Inter"/>
                <a:ea typeface="Inter"/>
                <a:cs typeface="Inter"/>
              </a:rPr>
              <a:t>Bot API</a:t>
            </a:r>
          </a:p>
        </p:txBody>
      </p:sp>
      <p:sp>
        <p:nvSpPr>
          <p:cNvPr id="17" name="queue-label">
            <a:extLst>
              <a:ext uri="{FF2B5EF4-FFF2-40B4-BE49-F238E27FC236}">
                <a16:creationId xmlns:a16="http://schemas.microsoft.com/office/drawing/2014/main" id="{A753005C-5974-4F20-892A-0FA79DDA84E5}"/>
              </a:ext>
            </a:extLst>
          </p:cNvPr>
          <p:cNvSpPr>
            <a:spLocks noGrp="1"/>
          </p:cNvSpPr>
          <p:nvPr/>
        </p:nvSpPr>
        <p:spPr>
          <a:xfrm>
            <a:off x="7800975" y="4219575"/>
            <a:ext cx="857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275" b="0">
                <a:solidFill>
                  <a:srgbClr val="57677C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7677C"/>
                </a:solidFill>
                <a:latin typeface="Inter"/>
                <a:ea typeface="Inter"/>
                <a:cs typeface="Inter"/>
              </a:rPr>
              <a:t>INSERT</a:t>
            </a:r>
          </a:p>
          <a:p>
            <a:pPr algn="l">
              <a:lnSpc>
                <a:spcPct val="114000"/>
              </a:lnSpc>
              <a:buNone/>
              <a:defRPr sz="1275" b="0">
                <a:solidFill>
                  <a:srgbClr val="57677C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7677C"/>
                </a:solidFill>
                <a:latin typeface="Inter"/>
                <a:ea typeface="Inter"/>
                <a:cs typeface="Inter"/>
              </a:rPr>
              <a:t>SELECT</a:t>
            </a:r>
          </a:p>
        </p:txBody>
      </p:sp>
      <p:sp>
        <p:nvSpPr>
          <p:cNvPr id="18" name="db-label">
            <a:extLst>
              <a:ext uri="{FF2B5EF4-FFF2-40B4-BE49-F238E27FC236}">
                <a16:creationId xmlns:a16="http://schemas.microsoft.com/office/drawing/2014/main" id="{9724F1FC-E9EE-404B-B827-AE81E90D70F9}"/>
              </a:ext>
            </a:extLst>
          </p:cNvPr>
          <p:cNvSpPr>
            <a:spLocks noGrp="1"/>
          </p:cNvSpPr>
          <p:nvPr/>
        </p:nvSpPr>
        <p:spPr>
          <a:xfrm>
            <a:off x="8353425" y="3533775"/>
            <a:ext cx="32385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350" b="0">
                <a:solidFill>
                  <a:srgbClr val="007C77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007C77"/>
                </a:solidFill>
                <a:latin typeface="Inter"/>
                <a:ea typeface="Inter"/>
                <a:cs typeface="Inter"/>
              </a:rPr>
              <a:t>Две группы таблиц в одной БД</a:t>
            </a:r>
          </a:p>
        </p:txBody>
      </p:sp>
      <p:sp>
        <p:nvSpPr>
          <p:cNvPr id="19" name="infra">
            <a:extLst>
              <a:ext uri="{FF2B5EF4-FFF2-40B4-BE49-F238E27FC236}">
                <a16:creationId xmlns:a16="http://schemas.microsoft.com/office/drawing/2014/main" id="{5300E16E-EA63-47ED-BF11-CEF2C478AF8F}"/>
              </a:ext>
            </a:extLst>
          </p:cNvPr>
          <p:cNvSpPr>
            <a:spLocks noGrp="1"/>
          </p:cNvSpPr>
          <p:nvPr/>
        </p:nvSpPr>
        <p:spPr>
          <a:xfrm>
            <a:off x="657225" y="5810250"/>
            <a:ext cx="10858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500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1500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Nginx: статика + /api в Docker  •  Docker Compose: 3 сервиса  •  Python: локальный запуск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4515AB0-B35A-69DD-4DBD-1604DE27A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8800" y="6248400"/>
            <a:ext cx="14224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607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5FC615A-03E0-41F9-9EF2-802531021258}"/>
              </a:ext>
            </a:extLst>
          </p:cNvPr>
          <p:cNvSpPr>
            <a:spLocks noGrp="1"/>
          </p:cNvSpPr>
          <p:nvPr/>
        </p:nvSpPr>
        <p:spPr>
          <a:xfrm>
            <a:off x="657225" y="523875"/>
            <a:ext cx="10877550" cy="590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3300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3300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PostgreSQL: владение данными + JSONB</a:t>
            </a:r>
          </a:p>
        </p:txBody>
      </p:sp>
      <p:sp>
        <p:nvSpPr>
          <p:cNvPr id="3" name="db-sub">
            <a:extLst>
              <a:ext uri="{FF2B5EF4-FFF2-40B4-BE49-F238E27FC236}">
                <a16:creationId xmlns:a16="http://schemas.microsoft.com/office/drawing/2014/main" id="{22A1F7E8-FC57-44CC-8C6D-28C412EF1AF6}"/>
              </a:ext>
            </a:extLst>
          </p:cNvPr>
          <p:cNvSpPr>
            <a:spLocks noGrp="1"/>
          </p:cNvSpPr>
          <p:nvPr/>
        </p:nvSpPr>
        <p:spPr>
          <a:xfrm>
            <a:off x="657225" y="1162050"/>
            <a:ext cx="108775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650" b="0">
                <a:solidFill>
                  <a:srgbClr val="57677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57677C"/>
                </a:solidFill>
                <a:latin typeface="Inter"/>
                <a:ea typeface="Inter"/>
                <a:cs typeface="Inter"/>
              </a:rPr>
              <a:t>По строке на сущность; изменения сохраняются между перезапусками</a:t>
            </a:r>
          </a:p>
        </p:txBody>
      </p:sp>
      <p:sp>
        <p:nvSpPr>
          <p:cNvPr id="4" name="db-users">
            <a:extLst>
              <a:ext uri="{FF2B5EF4-FFF2-40B4-BE49-F238E27FC236}">
                <a16:creationId xmlns:a16="http://schemas.microsoft.com/office/drawing/2014/main" id="{10A84476-2705-4D08-B77C-21F841C2DB4E}"/>
              </a:ext>
            </a:extLst>
          </p:cNvPr>
          <p:cNvSpPr>
            <a:spLocks noGrp="1"/>
          </p:cNvSpPr>
          <p:nvPr/>
        </p:nvSpPr>
        <p:spPr>
          <a:xfrm>
            <a:off x="657225" y="1857375"/>
            <a:ext cx="2876550" cy="1857375"/>
          </a:xfrm>
          <a:prstGeom prst="roundRect">
            <a:avLst>
              <a:gd name="adj" fmla="val 6154"/>
            </a:avLst>
          </a:prstGeom>
          <a:solidFill>
            <a:srgbClr val="F2F7FD"/>
          </a:solidFill>
          <a:ln w="14288">
            <a:solidFill>
              <a:srgbClr val="005AAA"/>
            </a:solidFill>
          </a:ln>
        </p:spPr>
        <p:txBody>
          <a:bodyPr wrap="square" lIns="190500" tIns="190500" rIns="171450" bIns="152400" anchor="t">
            <a:noAutofit/>
          </a:bodyPr>
          <a:lstStyle/>
          <a:p>
            <a:pPr>
              <a:spcAft>
                <a:spcPts val="12"/>
              </a:spcAft>
            </a:pPr>
            <a:r>
              <a:rPr sz="1875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users</a:t>
            </a:r>
          </a:p>
          <a:p>
            <a:r>
              <a:rPr sz="1500">
                <a:solidFill>
                  <a:srgbClr val="242834"/>
                </a:solidFill>
                <a:latin typeface="Inter"/>
                <a:ea typeface="Inter"/>
                <a:cs typeface="Inter"/>
              </a:rPr>
              <a:t>id — ключ пользователя
profile — JSONB-профиль</a:t>
            </a:r>
          </a:p>
        </p:txBody>
      </p:sp>
      <p:sp>
        <p:nvSpPr>
          <p:cNvPr id="5" name="db-records">
            <a:extLst>
              <a:ext uri="{FF2B5EF4-FFF2-40B4-BE49-F238E27FC236}">
                <a16:creationId xmlns:a16="http://schemas.microsoft.com/office/drawing/2014/main" id="{1DE22E50-8CEF-43F5-A05C-E9A1F5044770}"/>
              </a:ext>
            </a:extLst>
          </p:cNvPr>
          <p:cNvSpPr>
            <a:spLocks noGrp="1"/>
          </p:cNvSpPr>
          <p:nvPr/>
        </p:nvSpPr>
        <p:spPr>
          <a:xfrm>
            <a:off x="4467225" y="1857375"/>
            <a:ext cx="7067550" cy="1857375"/>
          </a:xfrm>
          <a:prstGeom prst="roundRect">
            <a:avLst>
              <a:gd name="adj" fmla="val 6154"/>
            </a:avLst>
          </a:prstGeom>
          <a:solidFill>
            <a:srgbClr val="F2F7FD"/>
          </a:solidFill>
          <a:ln w="14288">
            <a:solidFill>
              <a:srgbClr val="007C77"/>
            </a:solidFill>
          </a:ln>
        </p:spPr>
        <p:txBody>
          <a:bodyPr wrap="square" lIns="190500" tIns="190500" rIns="171450" bIns="152400" anchor="t">
            <a:noAutofit/>
          </a:bodyPr>
          <a:lstStyle/>
          <a:p>
            <a:pPr>
              <a:spcAft>
                <a:spcPts val="12"/>
              </a:spcAft>
            </a:pPr>
            <a:r>
              <a:rPr sz="1875" b="1">
                <a:solidFill>
                  <a:srgbClr val="007C77"/>
                </a:solidFill>
                <a:latin typeface="Inter Bold"/>
                <a:ea typeface="Inter Bold"/>
                <a:cs typeface="Inter Bold"/>
              </a:rPr>
              <a:t>records</a:t>
            </a:r>
          </a:p>
          <a:p>
            <a:r>
              <a:rPr sz="1500">
                <a:solidFill>
                  <a:srgbClr val="242834"/>
                </a:solidFill>
                <a:latin typeface="Inter"/>
                <a:ea typeface="Inter"/>
                <a:cs typeface="Inter"/>
              </a:rPr>
              <a:t>collection · owner_id → users.id · scope · id
payload JSONB · position · updated_at
Ключ: (collection, scope, id)</a:t>
            </a:r>
          </a:p>
        </p:txBody>
      </p:sp>
      <p:cxnSp>
        <p:nvCxnSpPr>
          <p:cNvPr id="17" name="Прямая со стрелкой 16"/>
          <p:cNvCxnSpPr>
            <a:stCxn id="4" idx="3"/>
            <a:endCxn id="5" idx="1"/>
          </p:cNvCxnSpPr>
          <p:nvPr/>
        </p:nvCxnSpPr>
        <p:spPr>
          <a:xfrm>
            <a:off x="3533775" y="2786063"/>
            <a:ext cx="933450" cy="0"/>
          </a:xfrm>
          <a:prstGeom prst="straightConnector1">
            <a:avLst/>
          </a:prstGeom>
          <a:ln w="20955">
            <a:solidFill>
              <a:srgbClr val="6A8CAD"/>
            </a:solidFill>
            <a:tailEnd type="triangle" w="med" len="med"/>
          </a:ln>
        </p:spPr>
      </p:cxnSp>
      <p:sp>
        <p:nvSpPr>
          <p:cNvPr id="7" name="one-many">
            <a:extLst>
              <a:ext uri="{FF2B5EF4-FFF2-40B4-BE49-F238E27FC236}">
                <a16:creationId xmlns:a16="http://schemas.microsoft.com/office/drawing/2014/main" id="{4EAC6282-FCAA-47F3-BE9D-AB72730635F2}"/>
              </a:ext>
            </a:extLst>
          </p:cNvPr>
          <p:cNvSpPr>
            <a:spLocks noGrp="1"/>
          </p:cNvSpPr>
          <p:nvPr/>
        </p:nvSpPr>
        <p:spPr>
          <a:xfrm>
            <a:off x="3762375" y="2400300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500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1500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1 : N</a:t>
            </a:r>
          </a:p>
        </p:txBody>
      </p:sp>
      <p:sp>
        <p:nvSpPr>
          <p:cNvPr id="8" name="db-migrations">
            <a:extLst>
              <a:ext uri="{FF2B5EF4-FFF2-40B4-BE49-F238E27FC236}">
                <a16:creationId xmlns:a16="http://schemas.microsoft.com/office/drawing/2014/main" id="{F1F4F197-52B0-4B67-8BF4-8FE9290845F8}"/>
              </a:ext>
            </a:extLst>
          </p:cNvPr>
          <p:cNvSpPr>
            <a:spLocks noGrp="1"/>
          </p:cNvSpPr>
          <p:nvPr/>
        </p:nvSpPr>
        <p:spPr>
          <a:xfrm>
            <a:off x="657225" y="4181475"/>
            <a:ext cx="2876550" cy="1581150"/>
          </a:xfrm>
          <a:prstGeom prst="roundRect">
            <a:avLst>
              <a:gd name="adj" fmla="val 7229"/>
            </a:avLst>
          </a:prstGeom>
          <a:solidFill>
            <a:srgbClr val="F2F7FD"/>
          </a:solidFill>
          <a:ln w="14288">
            <a:solidFill>
              <a:srgbClr val="005AAA"/>
            </a:solidFill>
          </a:ln>
        </p:spPr>
        <p:txBody>
          <a:bodyPr wrap="square" lIns="190500" tIns="190500" rIns="171450" bIns="152400" anchor="t">
            <a:noAutofit/>
          </a:bodyPr>
          <a:lstStyle/>
          <a:p>
            <a:pPr>
              <a:spcAft>
                <a:spcPts val="12"/>
              </a:spcAft>
            </a:pPr>
            <a:r>
              <a:rPr sz="1875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schema_migrations</a:t>
            </a:r>
          </a:p>
          <a:p>
            <a:r>
              <a:rPr sz="1500">
                <a:solidFill>
                  <a:srgbClr val="242834"/>
                </a:solidFill>
                <a:latin typeface="Inter"/>
                <a:ea typeface="Inter"/>
                <a:cs typeface="Inter"/>
              </a:rPr>
              <a:t>Версии структуры
Однократное наполнение</a:t>
            </a:r>
          </a:p>
        </p:txBody>
      </p:sp>
      <p:sp>
        <p:nvSpPr>
          <p:cNvPr id="9" name="db-bot">
            <a:extLst>
              <a:ext uri="{FF2B5EF4-FFF2-40B4-BE49-F238E27FC236}">
                <a16:creationId xmlns:a16="http://schemas.microsoft.com/office/drawing/2014/main" id="{E77A58B1-F414-4E5B-AFE8-1C2C655ED389}"/>
              </a:ext>
            </a:extLst>
          </p:cNvPr>
          <p:cNvSpPr>
            <a:spLocks noGrp="1"/>
          </p:cNvSpPr>
          <p:nvPr/>
        </p:nvSpPr>
        <p:spPr>
          <a:xfrm>
            <a:off x="4467225" y="4181475"/>
            <a:ext cx="3743325" cy="1581150"/>
          </a:xfrm>
          <a:prstGeom prst="roundRect">
            <a:avLst>
              <a:gd name="adj" fmla="val 7229"/>
            </a:avLst>
          </a:prstGeom>
          <a:solidFill>
            <a:srgbClr val="F2F7FD"/>
          </a:solidFill>
          <a:ln w="14288">
            <a:solidFill>
              <a:srgbClr val="005AAA"/>
            </a:solidFill>
          </a:ln>
        </p:spPr>
        <p:txBody>
          <a:bodyPr wrap="square" lIns="190500" tIns="190500" rIns="171450" bIns="152400" anchor="t">
            <a:noAutofit/>
          </a:bodyPr>
          <a:lstStyle/>
          <a:p>
            <a:pPr>
              <a:spcAft>
                <a:spcPts val="12"/>
              </a:spcAft>
            </a:pPr>
            <a:r>
              <a:rPr sz="1875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bot_updates</a:t>
            </a:r>
          </a:p>
          <a:p>
            <a:r>
              <a:rPr sz="1500">
                <a:solidFill>
                  <a:srgbClr val="242834"/>
                </a:solidFill>
                <a:latin typeface="Inter"/>
                <a:ea typeface="Inter"/>
                <a:cs typeface="Inter"/>
              </a:rPr>
              <a:t>Событие · статус · попытки
available_at · sent_at · error</a:t>
            </a:r>
          </a:p>
        </p:txBody>
      </p:sp>
      <p:sp>
        <p:nvSpPr>
          <p:cNvPr id="10" name="private-label">
            <a:extLst>
              <a:ext uri="{FF2B5EF4-FFF2-40B4-BE49-F238E27FC236}">
                <a16:creationId xmlns:a16="http://schemas.microsoft.com/office/drawing/2014/main" id="{610F0A2D-7BFF-4C6B-AB00-A48CD5298802}"/>
              </a:ext>
            </a:extLst>
          </p:cNvPr>
          <p:cNvSpPr>
            <a:spLocks noGrp="1"/>
          </p:cNvSpPr>
          <p:nvPr/>
        </p:nvSpPr>
        <p:spPr>
          <a:xfrm>
            <a:off x="8582025" y="4276725"/>
            <a:ext cx="2952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725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1725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Личные и общие данные</a:t>
            </a:r>
          </a:p>
        </p:txBody>
      </p:sp>
      <p:sp>
        <p:nvSpPr>
          <p:cNvPr id="11" name="private-body">
            <a:extLst>
              <a:ext uri="{FF2B5EF4-FFF2-40B4-BE49-F238E27FC236}">
                <a16:creationId xmlns:a16="http://schemas.microsoft.com/office/drawing/2014/main" id="{43FF1064-7C02-4B57-B242-6A24B4AF6FF6}"/>
              </a:ext>
            </a:extLst>
          </p:cNvPr>
          <p:cNvSpPr>
            <a:spLocks noGrp="1"/>
          </p:cNvSpPr>
          <p:nvPr/>
        </p:nvSpPr>
        <p:spPr>
          <a:xfrm>
            <a:off x="8582025" y="4714875"/>
            <a:ext cx="29527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500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owner_id отделяет профили.</a:t>
            </a:r>
          </a:p>
          <a:p>
            <a:pPr algn="l">
              <a:lnSpc>
                <a:spcPct val="114000"/>
              </a:lnSpc>
              <a:buNone/>
              <a:defRPr sz="1500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Для общих сущностей — shared.</a:t>
            </a:r>
          </a:p>
          <a:p>
            <a:pPr algn="l">
              <a:lnSpc>
                <a:spcPct val="114000"/>
              </a:lnSpc>
              <a:buNone/>
              <a:defRPr sz="1500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Демо-ID пока не авторизация.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9A9F374-2D1C-9A93-843E-50A448531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8800" y="6248400"/>
            <a:ext cx="14224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392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DB66B3E-B810-4176-BA4F-038808EFAFF2}"/>
              </a:ext>
            </a:extLst>
          </p:cNvPr>
          <p:cNvSpPr>
            <a:spLocks noGrp="1"/>
          </p:cNvSpPr>
          <p:nvPr/>
        </p:nvSpPr>
        <p:spPr>
          <a:xfrm>
            <a:off x="657225" y="523875"/>
            <a:ext cx="10877550" cy="590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3300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3300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Бот обрабатывает события через очередь</a:t>
            </a:r>
          </a:p>
        </p:txBody>
      </p:sp>
      <p:sp>
        <p:nvSpPr>
          <p:cNvPr id="3" name="commands">
            <a:extLst>
              <a:ext uri="{FF2B5EF4-FFF2-40B4-BE49-F238E27FC236}">
                <a16:creationId xmlns:a16="http://schemas.microsoft.com/office/drawing/2014/main" id="{18C83136-6568-4593-9E47-CFE4E650B352}"/>
              </a:ext>
            </a:extLst>
          </p:cNvPr>
          <p:cNvSpPr>
            <a:spLocks noGrp="1"/>
          </p:cNvSpPr>
          <p:nvPr/>
        </p:nvSpPr>
        <p:spPr>
          <a:xfrm>
            <a:off x="657225" y="127635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2025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2025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/start   /app   /tickets   /bills   /sos   /help</a:t>
            </a:r>
          </a:p>
        </p:txBody>
      </p:sp>
      <p:sp>
        <p:nvSpPr>
          <p:cNvPr id="4" name="bot-node-0">
            <a:extLst>
              <a:ext uri="{FF2B5EF4-FFF2-40B4-BE49-F238E27FC236}">
                <a16:creationId xmlns:a16="http://schemas.microsoft.com/office/drawing/2014/main" id="{64AC33D4-B515-459F-A48D-E4867420B673}"/>
              </a:ext>
            </a:extLst>
          </p:cNvPr>
          <p:cNvSpPr>
            <a:spLocks noGrp="1"/>
          </p:cNvSpPr>
          <p:nvPr/>
        </p:nvSpPr>
        <p:spPr>
          <a:xfrm>
            <a:off x="657225" y="2209800"/>
            <a:ext cx="2028825" cy="1533525"/>
          </a:xfrm>
          <a:prstGeom prst="roundRect">
            <a:avLst>
              <a:gd name="adj" fmla="val 7453"/>
            </a:avLst>
          </a:prstGeom>
          <a:solidFill>
            <a:srgbClr val="F2F7FD"/>
          </a:solidFill>
          <a:ln w="14288">
            <a:solidFill>
              <a:srgbClr val="005AAA"/>
            </a:solidFill>
          </a:ln>
        </p:spPr>
        <p:txBody>
          <a:bodyPr wrap="square" lIns="190500" tIns="190500" rIns="171450" bIns="152400" anchor="t">
            <a:noAutofit/>
          </a:bodyPr>
          <a:lstStyle/>
          <a:p>
            <a:pPr>
              <a:spcAft>
                <a:spcPts val="12"/>
              </a:spcAft>
            </a:pPr>
            <a:r>
              <a:rPr sz="1875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MAX</a:t>
            </a:r>
          </a:p>
          <a:p>
            <a:r>
              <a:rPr sz="1500">
                <a:solidFill>
                  <a:srgbClr val="242834"/>
                </a:solidFill>
                <a:latin typeface="Inter"/>
                <a:ea typeface="Inter"/>
                <a:cs typeface="Inter"/>
              </a:rPr>
              <a:t>Входящая
команда</a:t>
            </a:r>
          </a:p>
        </p:txBody>
      </p:sp>
      <p:sp>
        <p:nvSpPr>
          <p:cNvPr id="5" name="bot-node-1">
            <a:extLst>
              <a:ext uri="{FF2B5EF4-FFF2-40B4-BE49-F238E27FC236}">
                <a16:creationId xmlns:a16="http://schemas.microsoft.com/office/drawing/2014/main" id="{78A790C4-DA68-4E5A-BBC3-67FBCC9DA07B}"/>
              </a:ext>
            </a:extLst>
          </p:cNvPr>
          <p:cNvSpPr>
            <a:spLocks noGrp="1"/>
          </p:cNvSpPr>
          <p:nvPr/>
        </p:nvSpPr>
        <p:spPr>
          <a:xfrm>
            <a:off x="2867025" y="2209800"/>
            <a:ext cx="2028825" cy="1533525"/>
          </a:xfrm>
          <a:prstGeom prst="roundRect">
            <a:avLst>
              <a:gd name="adj" fmla="val 7453"/>
            </a:avLst>
          </a:prstGeom>
          <a:solidFill>
            <a:srgbClr val="F2F7FD"/>
          </a:solidFill>
          <a:ln w="14288">
            <a:solidFill>
              <a:srgbClr val="005AAA"/>
            </a:solidFill>
          </a:ln>
        </p:spPr>
        <p:txBody>
          <a:bodyPr wrap="square" lIns="190500" tIns="190500" rIns="171450" bIns="152400" anchor="t">
            <a:noAutofit/>
          </a:bodyPr>
          <a:lstStyle/>
          <a:p>
            <a:pPr>
              <a:spcAft>
                <a:spcPts val="12"/>
              </a:spcAft>
            </a:pPr>
            <a:r>
              <a:rPr sz="1875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Webhook</a:t>
            </a:r>
          </a:p>
          <a:p>
            <a:r>
              <a:rPr sz="1500">
                <a:solidFill>
                  <a:srgbClr val="242834"/>
                </a:solidFill>
                <a:latin typeface="Inter"/>
                <a:ea typeface="Inter"/>
                <a:cs typeface="Inter"/>
              </a:rPr>
              <a:t>Проверка
секрета</a:t>
            </a:r>
          </a:p>
        </p:txBody>
      </p:sp>
      <p:sp>
        <p:nvSpPr>
          <p:cNvPr id="6" name="bot-node-2">
            <a:extLst>
              <a:ext uri="{FF2B5EF4-FFF2-40B4-BE49-F238E27FC236}">
                <a16:creationId xmlns:a16="http://schemas.microsoft.com/office/drawing/2014/main" id="{A5DDEE20-A71A-428A-9064-C8436914C169}"/>
              </a:ext>
            </a:extLst>
          </p:cNvPr>
          <p:cNvSpPr>
            <a:spLocks noGrp="1"/>
          </p:cNvSpPr>
          <p:nvPr/>
        </p:nvSpPr>
        <p:spPr>
          <a:xfrm>
            <a:off x="5076825" y="2209800"/>
            <a:ext cx="2028825" cy="1533525"/>
          </a:xfrm>
          <a:prstGeom prst="roundRect">
            <a:avLst>
              <a:gd name="adj" fmla="val 7453"/>
            </a:avLst>
          </a:prstGeom>
          <a:solidFill>
            <a:srgbClr val="F2F7FD"/>
          </a:solidFill>
          <a:ln w="14288">
            <a:solidFill>
              <a:srgbClr val="007C77"/>
            </a:solidFill>
          </a:ln>
        </p:spPr>
        <p:txBody>
          <a:bodyPr wrap="square" lIns="190500" tIns="190500" rIns="171450" bIns="152400" anchor="t">
            <a:noAutofit/>
          </a:bodyPr>
          <a:lstStyle/>
          <a:p>
            <a:pPr>
              <a:spcAft>
                <a:spcPts val="12"/>
              </a:spcAft>
            </a:pPr>
            <a:r>
              <a:rPr sz="1875" b="1">
                <a:solidFill>
                  <a:srgbClr val="007C77"/>
                </a:solidFill>
                <a:latin typeface="Inter Bold"/>
                <a:ea typeface="Inter Bold"/>
                <a:cs typeface="Inter Bold"/>
              </a:rPr>
              <a:t>PostgreSQL</a:t>
            </a:r>
          </a:p>
          <a:p>
            <a:r>
              <a:rPr sz="1500">
                <a:solidFill>
                  <a:srgbClr val="242834"/>
                </a:solidFill>
                <a:latin typeface="Inter"/>
                <a:ea typeface="Inter"/>
                <a:cs typeface="Inter"/>
              </a:rPr>
              <a:t>Сохранение
и дедупликация</a:t>
            </a:r>
          </a:p>
        </p:txBody>
      </p:sp>
      <p:sp>
        <p:nvSpPr>
          <p:cNvPr id="7" name="bot-node-3">
            <a:extLst>
              <a:ext uri="{FF2B5EF4-FFF2-40B4-BE49-F238E27FC236}">
                <a16:creationId xmlns:a16="http://schemas.microsoft.com/office/drawing/2014/main" id="{37C2271E-0EFE-4CB1-B579-78E626DCB8BD}"/>
              </a:ext>
            </a:extLst>
          </p:cNvPr>
          <p:cNvSpPr>
            <a:spLocks noGrp="1"/>
          </p:cNvSpPr>
          <p:nvPr/>
        </p:nvSpPr>
        <p:spPr>
          <a:xfrm>
            <a:off x="7286625" y="2209800"/>
            <a:ext cx="2028825" cy="1533525"/>
          </a:xfrm>
          <a:prstGeom prst="roundRect">
            <a:avLst>
              <a:gd name="adj" fmla="val 7453"/>
            </a:avLst>
          </a:prstGeom>
          <a:solidFill>
            <a:srgbClr val="F2F7FD"/>
          </a:solidFill>
          <a:ln w="14288">
            <a:solidFill>
              <a:srgbClr val="005AAA"/>
            </a:solidFill>
          </a:ln>
        </p:spPr>
        <p:txBody>
          <a:bodyPr wrap="square" lIns="190500" tIns="190500" rIns="171450" bIns="152400" anchor="t">
            <a:noAutofit/>
          </a:bodyPr>
          <a:lstStyle/>
          <a:p>
            <a:pPr>
              <a:spcAft>
                <a:spcPts val="12"/>
              </a:spcAft>
            </a:pPr>
            <a:r>
              <a:rPr sz="1875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Worker</a:t>
            </a:r>
          </a:p>
          <a:p>
            <a:r>
              <a:rPr sz="1500">
                <a:solidFill>
                  <a:srgbClr val="242834"/>
                </a:solidFill>
                <a:latin typeface="Inter"/>
                <a:ea typeface="Inter"/>
                <a:cs typeface="Inter"/>
              </a:rPr>
              <a:t>Разбор
и ответ</a:t>
            </a:r>
          </a:p>
        </p:txBody>
      </p:sp>
      <p:sp>
        <p:nvSpPr>
          <p:cNvPr id="8" name="bot-node-4">
            <a:extLst>
              <a:ext uri="{FF2B5EF4-FFF2-40B4-BE49-F238E27FC236}">
                <a16:creationId xmlns:a16="http://schemas.microsoft.com/office/drawing/2014/main" id="{625F6F3D-898F-4101-BB52-9808D9E5C704}"/>
              </a:ext>
            </a:extLst>
          </p:cNvPr>
          <p:cNvSpPr>
            <a:spLocks noGrp="1"/>
          </p:cNvSpPr>
          <p:nvPr/>
        </p:nvSpPr>
        <p:spPr>
          <a:xfrm>
            <a:off x="9496425" y="2209800"/>
            <a:ext cx="2028825" cy="1533525"/>
          </a:xfrm>
          <a:prstGeom prst="roundRect">
            <a:avLst>
              <a:gd name="adj" fmla="val 7453"/>
            </a:avLst>
          </a:prstGeom>
          <a:solidFill>
            <a:srgbClr val="F2F7FD"/>
          </a:solidFill>
          <a:ln w="14288">
            <a:solidFill>
              <a:srgbClr val="005AAA"/>
            </a:solidFill>
          </a:ln>
        </p:spPr>
        <p:txBody>
          <a:bodyPr wrap="square" lIns="190500" tIns="190500" rIns="171450" bIns="152400" anchor="t">
            <a:noAutofit/>
          </a:bodyPr>
          <a:lstStyle/>
          <a:p>
            <a:pPr>
              <a:spcAft>
                <a:spcPts val="12"/>
              </a:spcAft>
            </a:pPr>
            <a:r>
              <a:rPr sz="1875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MAX Bot API</a:t>
            </a:r>
          </a:p>
          <a:p>
            <a:r>
              <a:rPr sz="1500">
                <a:solidFill>
                  <a:srgbClr val="242834"/>
                </a:solidFill>
                <a:latin typeface="Inter"/>
                <a:ea typeface="Inter"/>
                <a:cs typeface="Inter"/>
              </a:rPr>
              <a:t>Сообщение
пользователю</a:t>
            </a:r>
          </a:p>
        </p:txBody>
      </p:sp>
      <p:cxnSp>
        <p:nvCxnSpPr>
          <p:cNvPr id="24" name="Прямая со стрелкой 23"/>
          <p:cNvCxnSpPr>
            <a:stCxn id="4" idx="3"/>
            <a:endCxn id="5" idx="1"/>
          </p:cNvCxnSpPr>
          <p:nvPr/>
        </p:nvCxnSpPr>
        <p:spPr>
          <a:xfrm>
            <a:off x="2686050" y="2976563"/>
            <a:ext cx="180975" cy="0"/>
          </a:xfrm>
          <a:prstGeom prst="straightConnector1">
            <a:avLst/>
          </a:prstGeom>
          <a:ln w="20955">
            <a:solidFill>
              <a:srgbClr val="6A8CAD"/>
            </a:solidFill>
            <a:tailEnd type="triangle" w="med" len="med"/>
          </a:ln>
        </p:spPr>
      </p:cxnSp>
      <p:cxnSp>
        <p:nvCxnSpPr>
          <p:cNvPr id="25" name="Прямая со стрелкой 24"/>
          <p:cNvCxnSpPr>
            <a:stCxn id="5" idx="3"/>
            <a:endCxn id="6" idx="1"/>
          </p:cNvCxnSpPr>
          <p:nvPr/>
        </p:nvCxnSpPr>
        <p:spPr>
          <a:xfrm>
            <a:off x="4895850" y="2976563"/>
            <a:ext cx="180975" cy="0"/>
          </a:xfrm>
          <a:prstGeom prst="straightConnector1">
            <a:avLst/>
          </a:prstGeom>
          <a:ln w="20955">
            <a:solidFill>
              <a:srgbClr val="6A8CAD"/>
            </a:solidFill>
            <a:tailEnd type="triangle" w="med" len="med"/>
          </a:ln>
        </p:spPr>
      </p:cxnSp>
      <p:cxnSp>
        <p:nvCxnSpPr>
          <p:cNvPr id="26" name="Прямая со стрелкой 25"/>
          <p:cNvCxnSpPr>
            <a:stCxn id="6" idx="3"/>
            <a:endCxn id="7" idx="1"/>
          </p:cNvCxnSpPr>
          <p:nvPr/>
        </p:nvCxnSpPr>
        <p:spPr>
          <a:xfrm>
            <a:off x="7105650" y="2976563"/>
            <a:ext cx="180975" cy="0"/>
          </a:xfrm>
          <a:prstGeom prst="straightConnector1">
            <a:avLst/>
          </a:prstGeom>
          <a:ln w="20955">
            <a:solidFill>
              <a:srgbClr val="6A8CAD"/>
            </a:solidFill>
            <a:tailEnd type="triangle" w="med" len="med"/>
          </a:ln>
        </p:spPr>
      </p:cxnSp>
      <p:cxnSp>
        <p:nvCxnSpPr>
          <p:cNvPr id="27" name="Прямая со стрелкой 26"/>
          <p:cNvCxnSpPr>
            <a:stCxn id="7" idx="3"/>
            <a:endCxn id="8" idx="1"/>
          </p:cNvCxnSpPr>
          <p:nvPr/>
        </p:nvCxnSpPr>
        <p:spPr>
          <a:xfrm>
            <a:off x="9315450" y="2976563"/>
            <a:ext cx="180975" cy="0"/>
          </a:xfrm>
          <a:prstGeom prst="straightConnector1">
            <a:avLst/>
          </a:prstGeom>
          <a:ln w="20955">
            <a:solidFill>
              <a:srgbClr val="6A8CAD"/>
            </a:solidFill>
            <a:tailEnd type="triangle" w="med" len="med"/>
          </a:ln>
        </p:spPr>
      </p:cxnSp>
      <p:sp>
        <p:nvSpPr>
          <p:cNvPr id="13" name="bot-reliable">
            <a:extLst>
              <a:ext uri="{FF2B5EF4-FFF2-40B4-BE49-F238E27FC236}">
                <a16:creationId xmlns:a16="http://schemas.microsoft.com/office/drawing/2014/main" id="{64898EBF-8831-475E-BE8A-974D9FC34671}"/>
              </a:ext>
            </a:extLst>
          </p:cNvPr>
          <p:cNvSpPr>
            <a:spLocks noGrp="1"/>
          </p:cNvSpPr>
          <p:nvPr/>
        </p:nvSpPr>
        <p:spPr>
          <a:xfrm>
            <a:off x="657225" y="4333875"/>
            <a:ext cx="4762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2175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2175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Очередь переживает рестарт</a:t>
            </a:r>
          </a:p>
        </p:txBody>
      </p:sp>
      <p:sp>
        <p:nvSpPr>
          <p:cNvPr id="14" name="bot-reliable-body">
            <a:extLst>
              <a:ext uri="{FF2B5EF4-FFF2-40B4-BE49-F238E27FC236}">
                <a16:creationId xmlns:a16="http://schemas.microsoft.com/office/drawing/2014/main" id="{9BDA6D4B-D0D8-441E-A0FE-4C5091D6C42D}"/>
              </a:ext>
            </a:extLst>
          </p:cNvPr>
          <p:cNvSpPr>
            <a:spLocks noGrp="1"/>
          </p:cNvSpPr>
          <p:nvPr/>
        </p:nvSpPr>
        <p:spPr>
          <a:xfrm>
            <a:off x="657225" y="4867275"/>
            <a:ext cx="504825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650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Повторное событие не добавляется второй раз.</a:t>
            </a:r>
          </a:p>
          <a:p>
            <a:pPr algn="l">
              <a:lnSpc>
                <a:spcPct val="114000"/>
              </a:lnSpc>
              <a:buNone/>
              <a:defRPr sz="1650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При ошибке отправки — до 10 попыток.</a:t>
            </a:r>
          </a:p>
          <a:p>
            <a:pPr algn="l">
              <a:lnSpc>
                <a:spcPct val="114000"/>
              </a:lnSpc>
              <a:buNone/>
              <a:defRPr sz="1650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После исчерпания попыток — статус failed.</a:t>
            </a:r>
          </a:p>
        </p:txBody>
      </p:sp>
      <p:sp>
        <p:nvSpPr>
          <p:cNvPr id="15" name="bot-limits">
            <a:extLst>
              <a:ext uri="{FF2B5EF4-FFF2-40B4-BE49-F238E27FC236}">
                <a16:creationId xmlns:a16="http://schemas.microsoft.com/office/drawing/2014/main" id="{8DE583F1-429F-4968-97E2-CF1500F8E1CE}"/>
              </a:ext>
            </a:extLst>
          </p:cNvPr>
          <p:cNvSpPr>
            <a:spLocks noGrp="1"/>
          </p:cNvSpPr>
          <p:nvPr/>
        </p:nvSpPr>
        <p:spPr>
          <a:xfrm>
            <a:off x="6562725" y="4333875"/>
            <a:ext cx="4953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2175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2175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Что подключим дальше</a:t>
            </a:r>
          </a:p>
        </p:txBody>
      </p:sp>
      <p:sp>
        <p:nvSpPr>
          <p:cNvPr id="16" name="bot-limits-body">
            <a:extLst>
              <a:ext uri="{FF2B5EF4-FFF2-40B4-BE49-F238E27FC236}">
                <a16:creationId xmlns:a16="http://schemas.microsoft.com/office/drawing/2014/main" id="{300BA5DF-EB51-4D31-8C1C-8ED0E77C66B0}"/>
              </a:ext>
            </a:extLst>
          </p:cNvPr>
          <p:cNvSpPr>
            <a:spLocks noGrp="1"/>
          </p:cNvSpPr>
          <p:nvPr/>
        </p:nvSpPr>
        <p:spPr>
          <a:xfrm>
            <a:off x="6562725" y="4867275"/>
            <a:ext cx="49530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650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MAX ID → подтверждённая квартира.</a:t>
            </a:r>
          </a:p>
          <a:p>
            <a:pPr algn="l">
              <a:lnSpc>
                <a:spcPct val="114000"/>
              </a:lnSpc>
              <a:buNone/>
              <a:defRPr sz="1650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Личные уведомления о заявках и платежах.</a:t>
            </a:r>
          </a:p>
          <a:p>
            <a:pPr algn="l">
              <a:lnSpc>
                <a:spcPct val="114000"/>
              </a:lnSpc>
              <a:buNone/>
              <a:defRPr sz="1650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Реальная доставка сообщений соседям.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1438864-A148-2243-AF70-B1D28A733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8800" y="6248400"/>
            <a:ext cx="14224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607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3071415-9827-4158-B541-553221F376D5}"/>
              </a:ext>
            </a:extLst>
          </p:cNvPr>
          <p:cNvSpPr>
            <a:spLocks noGrp="1"/>
          </p:cNvSpPr>
          <p:nvPr/>
        </p:nvSpPr>
        <p:spPr>
          <a:xfrm>
            <a:off x="657225" y="523875"/>
            <a:ext cx="10877550" cy="590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3300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3300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Реальные данные — из систем дома</a:t>
            </a:r>
          </a:p>
        </p:txBody>
      </p:sp>
      <p:pic>
        <p:nvPicPr>
          <p:cNvPr id="30" name="Image 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7225" y="1666875"/>
            <a:ext cx="5353050" cy="1323975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B2AAB304-589E-42DF-829E-ADF9D35544CA}"/>
              </a:ext>
            </a:extLst>
          </p:cNvPr>
          <p:cNvSpPr>
            <a:spLocks noGrp="1"/>
          </p:cNvSpPr>
          <p:nvPr/>
        </p:nvSpPr>
        <p:spPr>
          <a:xfrm>
            <a:off x="962025" y="1847850"/>
            <a:ext cx="4857750" cy="314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875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1875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Жители и лицевые счета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EACCECE-13C7-4E2F-A88F-3486AD320320}"/>
              </a:ext>
            </a:extLst>
          </p:cNvPr>
          <p:cNvSpPr>
            <a:spLocks noGrp="1"/>
          </p:cNvSpPr>
          <p:nvPr/>
        </p:nvSpPr>
        <p:spPr>
          <a:xfrm>
            <a:off x="962025" y="2276475"/>
            <a:ext cx="4857750" cy="704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500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УК / ТСЖ → реестр квартир и ЛС.</a:t>
            </a:r>
          </a:p>
          <a:p>
            <a:pPr marL="0" indent="0" algn="l">
              <a:lnSpc>
                <a:spcPct val="114000"/>
              </a:lnSpc>
              <a:buNone/>
              <a:defRPr sz="1500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Старт: согласованная CSV/XLSX-выгрузка.</a:t>
            </a:r>
          </a:p>
        </p:txBody>
      </p:sp>
      <p:pic>
        <p:nvPicPr>
          <p:cNvPr id="33" name="Image 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1725" y="1666875"/>
            <a:ext cx="5353050" cy="1323975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9E90BD6E-825A-49B7-96E8-3A8EA93E3162}"/>
              </a:ext>
            </a:extLst>
          </p:cNvPr>
          <p:cNvSpPr>
            <a:spLocks noGrp="1"/>
          </p:cNvSpPr>
          <p:nvPr/>
        </p:nvSpPr>
        <p:spPr>
          <a:xfrm>
            <a:off x="6486525" y="1847850"/>
            <a:ext cx="4857750" cy="314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875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1875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Начисления и счётчики</a:t>
            </a: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8BB8532B-3BB8-49AE-94BF-DFADB61E7D93}"/>
              </a:ext>
            </a:extLst>
          </p:cNvPr>
          <p:cNvSpPr>
            <a:spLocks noGrp="1"/>
          </p:cNvSpPr>
          <p:nvPr/>
        </p:nvSpPr>
        <p:spPr>
          <a:xfrm>
            <a:off x="6486525" y="2276475"/>
            <a:ext cx="4857750" cy="704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500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1С ЖКХ / ЕИРЦ / РСО → счета, долг,</a:t>
            </a:r>
          </a:p>
          <a:p>
            <a:pPr marL="0" indent="0" algn="l">
              <a:lnSpc>
                <a:spcPct val="114000"/>
              </a:lnSpc>
              <a:buNone/>
              <a:defRPr sz="1500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тарифы и показания. Выгрузка или API.</a:t>
            </a:r>
          </a:p>
        </p:txBody>
      </p:sp>
      <p:pic>
        <p:nvPicPr>
          <p:cNvPr id="36" name="Image 2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7225" y="3105150"/>
            <a:ext cx="5353050" cy="1323975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FBF82295-675D-422E-947B-E582CE65E1B6}"/>
              </a:ext>
            </a:extLst>
          </p:cNvPr>
          <p:cNvSpPr>
            <a:spLocks noGrp="1"/>
          </p:cNvSpPr>
          <p:nvPr/>
        </p:nvSpPr>
        <p:spPr>
          <a:xfrm>
            <a:off x="962025" y="3286125"/>
            <a:ext cx="4857750" cy="314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875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1875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Заявки и отключения</a:t>
            </a: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3DBB4FF4-03D3-4A18-953A-3C22F9C9F366}"/>
              </a:ext>
            </a:extLst>
          </p:cNvPr>
          <p:cNvSpPr>
            <a:spLocks noGrp="1"/>
          </p:cNvSpPr>
          <p:nvPr/>
        </p:nvSpPr>
        <p:spPr>
          <a:xfrm>
            <a:off x="962025" y="3714750"/>
            <a:ext cx="4857750" cy="704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500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Диспетчерская УК / РСО → статус,</a:t>
            </a:r>
          </a:p>
          <a:p>
            <a:pPr marL="0" indent="0" algn="l">
              <a:lnSpc>
                <a:spcPct val="114000"/>
              </a:lnSpc>
              <a:buNone/>
              <a:defRPr sz="1500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исполнитель, сроки. API или кабинет.</a:t>
            </a:r>
          </a:p>
        </p:txBody>
      </p:sp>
      <p:pic>
        <p:nvPicPr>
          <p:cNvPr id="39" name="Image 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81725" y="3105150"/>
            <a:ext cx="5353050" cy="1323975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DC7771BE-F35E-43CE-A54C-30824A489DCA}"/>
              </a:ext>
            </a:extLst>
          </p:cNvPr>
          <p:cNvSpPr>
            <a:spLocks noGrp="1"/>
          </p:cNvSpPr>
          <p:nvPr/>
        </p:nvSpPr>
        <p:spPr>
          <a:xfrm>
            <a:off x="6486525" y="3286125"/>
            <a:ext cx="4857750" cy="314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875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1875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Платежи</a:t>
            </a: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DCBA1EC2-81C9-443A-8CCD-CC82E75FCF3C}"/>
              </a:ext>
            </a:extLst>
          </p:cNvPr>
          <p:cNvSpPr>
            <a:spLocks noGrp="1"/>
          </p:cNvSpPr>
          <p:nvPr/>
        </p:nvSpPr>
        <p:spPr>
          <a:xfrm>
            <a:off x="6486525" y="3714750"/>
            <a:ext cx="4857750" cy="704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500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Банк / провайдер, например ЮKassa:</a:t>
            </a:r>
          </a:p>
          <a:p>
            <a:pPr marL="0" indent="0" algn="l">
              <a:lnSpc>
                <a:spcPct val="114000"/>
              </a:lnSpc>
              <a:buNone/>
              <a:defRPr sz="1500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статус платежа через webhook.</a:t>
            </a:r>
          </a:p>
        </p:txBody>
      </p:sp>
      <p:pic>
        <p:nvPicPr>
          <p:cNvPr id="42" name="Image 4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7225" y="4543425"/>
            <a:ext cx="5353050" cy="1323975"/>
          </a:xfrm>
          <a:prstGeom prst="rect">
            <a:avLst/>
          </a:prstGeom>
        </p:spPr>
      </p:pic>
      <p:sp>
        <p:nvSpPr>
          <p:cNvPr id="16" name="Text 9">
            <a:extLst>
              <a:ext uri="{FF2B5EF4-FFF2-40B4-BE49-F238E27FC236}">
                <a16:creationId xmlns:a16="http://schemas.microsoft.com/office/drawing/2014/main" id="{A244567C-6CBA-4D61-80DD-969A5F4C96FB}"/>
              </a:ext>
            </a:extLst>
          </p:cNvPr>
          <p:cNvSpPr>
            <a:spLocks noGrp="1"/>
          </p:cNvSpPr>
          <p:nvPr/>
        </p:nvSpPr>
        <p:spPr>
          <a:xfrm>
            <a:off x="962025" y="4724400"/>
            <a:ext cx="4857750" cy="314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875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1875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Парковка</a:t>
            </a: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88EB13BC-C4BB-4F44-806B-704989ADBC19}"/>
              </a:ext>
            </a:extLst>
          </p:cNvPr>
          <p:cNvSpPr>
            <a:spLocks noGrp="1"/>
          </p:cNvSpPr>
          <p:nvPr/>
        </p:nvSpPr>
        <p:spPr>
          <a:xfrm>
            <a:off x="962025" y="5153025"/>
            <a:ext cx="4857750" cy="704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500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Оператор СКУД → места, пропуска, въезд.</a:t>
            </a:r>
          </a:p>
          <a:p>
            <a:pPr marL="0" indent="0" algn="l">
              <a:lnSpc>
                <a:spcPct val="114000"/>
              </a:lnSpc>
              <a:buNone/>
              <a:defRPr sz="1500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Адаптер к доступному API оборудования.</a:t>
            </a:r>
          </a:p>
        </p:txBody>
      </p:sp>
      <p:pic>
        <p:nvPicPr>
          <p:cNvPr id="45" name="Image 5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81725" y="4543425"/>
            <a:ext cx="5353050" cy="1323975"/>
          </a:xfrm>
          <a:prstGeom prst="rect">
            <a:avLst/>
          </a:prstGeom>
        </p:spPr>
      </p:pic>
      <p:sp>
        <p:nvSpPr>
          <p:cNvPr id="19" name="Text 11">
            <a:extLst>
              <a:ext uri="{FF2B5EF4-FFF2-40B4-BE49-F238E27FC236}">
                <a16:creationId xmlns:a16="http://schemas.microsoft.com/office/drawing/2014/main" id="{BAE73802-AFF3-4A2B-B69F-77D5B30FC298}"/>
              </a:ext>
            </a:extLst>
          </p:cNvPr>
          <p:cNvSpPr>
            <a:spLocks noGrp="1"/>
          </p:cNvSpPr>
          <p:nvPr/>
        </p:nvSpPr>
        <p:spPr>
          <a:xfrm>
            <a:off x="6486525" y="4724400"/>
            <a:ext cx="4857750" cy="314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875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1875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Контакты и документы</a:t>
            </a:r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B95C1869-8FEC-4F70-9053-FD0B160C8001}"/>
              </a:ext>
            </a:extLst>
          </p:cNvPr>
          <p:cNvSpPr>
            <a:spLocks noGrp="1"/>
          </p:cNvSpPr>
          <p:nvPr/>
        </p:nvSpPr>
        <p:spPr>
          <a:xfrm>
            <a:off x="6486525" y="5153025"/>
            <a:ext cx="4857750" cy="704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500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УК / ТСЖ → службы, графики, материалы.</a:t>
            </a:r>
          </a:p>
          <a:p>
            <a:pPr marL="0" indent="0" algn="l">
              <a:lnSpc>
                <a:spcPct val="114000"/>
              </a:lnSpc>
              <a:buNone/>
              <a:defRPr sz="1500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ГИС ЖКХ — доп. канал по регламенту.</a:t>
            </a:r>
          </a:p>
        </p:txBody>
      </p:sp>
      <p:sp>
        <p:nvSpPr>
          <p:cNvPr id="27" name="planned">
            <a:extLst>
              <a:ext uri="{FF2B5EF4-FFF2-40B4-BE49-F238E27FC236}">
                <a16:creationId xmlns:a16="http://schemas.microsoft.com/office/drawing/2014/main" id="{5B1BA899-695C-4017-9B2B-082F5DA9F84B}"/>
              </a:ext>
            </a:extLst>
          </p:cNvPr>
          <p:cNvSpPr>
            <a:spLocks noGrp="1"/>
          </p:cNvSpPr>
          <p:nvPr/>
        </p:nvSpPr>
        <p:spPr>
          <a:xfrm>
            <a:off x="657225" y="1209675"/>
            <a:ext cx="108775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500" b="0">
                <a:solidFill>
                  <a:srgbClr val="57677C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57677C"/>
                </a:solidFill>
                <a:latin typeface="Inter"/>
                <a:ea typeface="Inter"/>
                <a:cs typeface="Inter"/>
              </a:rPr>
              <a:t>План подключения: источники определены; доступ и формат согласуем с владельцами</a:t>
            </a:r>
          </a:p>
        </p:txBody>
      </p:sp>
      <p:sp>
        <p:nvSpPr>
          <p:cNvPr id="28" name="source-caption">
            <a:extLst>
              <a:ext uri="{FF2B5EF4-FFF2-40B4-BE49-F238E27FC236}">
                <a16:creationId xmlns:a16="http://schemas.microsoft.com/office/drawing/2014/main" id="{D1D15764-3AA3-4F81-BD47-8CFEEC6E643F}"/>
              </a:ext>
            </a:extLst>
          </p:cNvPr>
          <p:cNvSpPr>
            <a:spLocks noGrp="1"/>
          </p:cNvSpPr>
          <p:nvPr/>
        </p:nvSpPr>
        <p:spPr>
          <a:xfrm>
            <a:off x="657225" y="624840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125" b="0">
                <a:solidFill>
                  <a:srgbClr val="57677C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57677C"/>
                </a:solidFill>
                <a:latin typeface="Inter"/>
                <a:ea typeface="Inter"/>
                <a:cs typeface="Inter"/>
              </a:rPr>
              <a:t>Источники: 1С ЖКХ · ГИС ЖКХ · ЮKassa API. Официальные ссылки и условия — в заметках слайда.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98B2822-C56C-EADB-B3B9-1EF2532D27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8800" y="6248400"/>
            <a:ext cx="14224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1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DB66B3E-B810-4176-BA4F-038808EFAFF2}"/>
              </a:ext>
            </a:extLst>
          </p:cNvPr>
          <p:cNvSpPr>
            <a:spLocks noGrp="1"/>
          </p:cNvSpPr>
          <p:nvPr/>
        </p:nvSpPr>
        <p:spPr>
          <a:xfrm>
            <a:off x="657225" y="523875"/>
            <a:ext cx="10877550" cy="590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3300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3300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Подключение данных не требует нового UI</a:t>
            </a:r>
          </a:p>
        </p:txBody>
      </p:sp>
      <p:sp>
        <p:nvSpPr>
          <p:cNvPr id="3" name="integration-sub">
            <a:extLst>
              <a:ext uri="{FF2B5EF4-FFF2-40B4-BE49-F238E27FC236}">
                <a16:creationId xmlns:a16="http://schemas.microsoft.com/office/drawing/2014/main" id="{6138660F-B212-422C-BF0E-13438C4C22BD}"/>
              </a:ext>
            </a:extLst>
          </p:cNvPr>
          <p:cNvSpPr>
            <a:spLocks noGrp="1"/>
          </p:cNvSpPr>
          <p:nvPr/>
        </p:nvSpPr>
        <p:spPr>
          <a:xfrm>
            <a:off x="657225" y="1190625"/>
            <a:ext cx="108775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650" b="0">
                <a:solidFill>
                  <a:srgbClr val="57677C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57677C"/>
                </a:solidFill>
                <a:latin typeface="Inter"/>
                <a:ea typeface="Inter"/>
                <a:cs typeface="Inter"/>
              </a:rPr>
              <a:t>Сохраняем сценарии приложения; добавляем адаптеры и проверенную идентификацию</a:t>
            </a:r>
          </a:p>
        </p:txBody>
      </p:sp>
      <p:sp>
        <p:nvSpPr>
          <p:cNvPr id="4" name="external">
            <a:extLst>
              <a:ext uri="{FF2B5EF4-FFF2-40B4-BE49-F238E27FC236}">
                <a16:creationId xmlns:a16="http://schemas.microsoft.com/office/drawing/2014/main" id="{2E06B50B-5442-4E86-B714-5A4189922B53}"/>
              </a:ext>
            </a:extLst>
          </p:cNvPr>
          <p:cNvSpPr>
            <a:spLocks noGrp="1"/>
          </p:cNvSpPr>
          <p:nvPr/>
        </p:nvSpPr>
        <p:spPr>
          <a:xfrm>
            <a:off x="657225" y="2209800"/>
            <a:ext cx="2219325" cy="1552575"/>
          </a:xfrm>
          <a:prstGeom prst="roundRect">
            <a:avLst>
              <a:gd name="adj" fmla="val 7362"/>
            </a:avLst>
          </a:prstGeom>
          <a:solidFill>
            <a:srgbClr val="F2F7FD"/>
          </a:solidFill>
          <a:ln w="14288">
            <a:solidFill>
              <a:srgbClr val="005AAA"/>
            </a:solidFill>
          </a:ln>
        </p:spPr>
        <p:txBody>
          <a:bodyPr wrap="square" lIns="190500" tIns="190500" rIns="171450" bIns="152400" anchor="t">
            <a:noAutofit/>
          </a:bodyPr>
          <a:lstStyle/>
          <a:p>
            <a:pPr>
              <a:spcAft>
                <a:spcPts val="12"/>
              </a:spcAft>
            </a:pPr>
            <a:r>
              <a:rPr sz="1875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УК / РСО / банк</a:t>
            </a:r>
          </a:p>
          <a:p>
            <a:r>
              <a:rPr sz="1500">
                <a:solidFill>
                  <a:srgbClr val="242834"/>
                </a:solidFill>
                <a:latin typeface="Inter"/>
                <a:ea typeface="Inter"/>
                <a:cs typeface="Inter"/>
              </a:rPr>
              <a:t>API · webhook
CSV / XLSX</a:t>
            </a:r>
          </a:p>
        </p:txBody>
      </p:sp>
      <p:sp>
        <p:nvSpPr>
          <p:cNvPr id="5" name="adapters">
            <a:extLst>
              <a:ext uri="{FF2B5EF4-FFF2-40B4-BE49-F238E27FC236}">
                <a16:creationId xmlns:a16="http://schemas.microsoft.com/office/drawing/2014/main" id="{6B029CE0-6006-4E8B-8603-DB3CF0CB5787}"/>
              </a:ext>
            </a:extLst>
          </p:cNvPr>
          <p:cNvSpPr>
            <a:spLocks noGrp="1"/>
          </p:cNvSpPr>
          <p:nvPr/>
        </p:nvSpPr>
        <p:spPr>
          <a:xfrm>
            <a:off x="3543300" y="2209800"/>
            <a:ext cx="2219325" cy="1552575"/>
          </a:xfrm>
          <a:prstGeom prst="roundRect">
            <a:avLst>
              <a:gd name="adj" fmla="val 7362"/>
            </a:avLst>
          </a:prstGeom>
          <a:solidFill>
            <a:srgbClr val="F2F7FD"/>
          </a:solidFill>
          <a:ln w="14288">
            <a:solidFill>
              <a:srgbClr val="005AAA"/>
            </a:solidFill>
          </a:ln>
        </p:spPr>
        <p:txBody>
          <a:bodyPr wrap="square" lIns="190500" tIns="190500" rIns="171450" bIns="152400" anchor="t">
            <a:noAutofit/>
          </a:bodyPr>
          <a:lstStyle/>
          <a:p>
            <a:pPr>
              <a:spcAft>
                <a:spcPts val="12"/>
              </a:spcAft>
            </a:pPr>
            <a:r>
              <a:rPr sz="1875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Адаптеры данных</a:t>
            </a:r>
          </a:p>
          <a:p>
            <a:r>
              <a:rPr sz="1500">
                <a:solidFill>
                  <a:srgbClr val="242834"/>
                </a:solidFill>
                <a:latin typeface="Inter"/>
                <a:ea typeface="Inter"/>
                <a:cs typeface="Inter"/>
              </a:rPr>
              <a:t>Преобразование
и проверка</a:t>
            </a:r>
          </a:p>
        </p:txBody>
      </p:sp>
      <p:sp>
        <p:nvSpPr>
          <p:cNvPr id="6" name="pg-existing">
            <a:extLst>
              <a:ext uri="{FF2B5EF4-FFF2-40B4-BE49-F238E27FC236}">
                <a16:creationId xmlns:a16="http://schemas.microsoft.com/office/drawing/2014/main" id="{DEA56345-0B3B-4652-BF68-F67DACA49B93}"/>
              </a:ext>
            </a:extLst>
          </p:cNvPr>
          <p:cNvSpPr>
            <a:spLocks noGrp="1"/>
          </p:cNvSpPr>
          <p:nvPr/>
        </p:nvSpPr>
        <p:spPr>
          <a:xfrm>
            <a:off x="6429375" y="2209800"/>
            <a:ext cx="2219325" cy="1552575"/>
          </a:xfrm>
          <a:prstGeom prst="roundRect">
            <a:avLst>
              <a:gd name="adj" fmla="val 7362"/>
            </a:avLst>
          </a:prstGeom>
          <a:solidFill>
            <a:srgbClr val="F2F7FD"/>
          </a:solidFill>
          <a:ln w="14288">
            <a:solidFill>
              <a:srgbClr val="007C77"/>
            </a:solidFill>
          </a:ln>
        </p:spPr>
        <p:txBody>
          <a:bodyPr wrap="square" lIns="190500" tIns="190500" rIns="171450" bIns="152400" anchor="t">
            <a:noAutofit/>
          </a:bodyPr>
          <a:lstStyle/>
          <a:p>
            <a:pPr>
              <a:spcAft>
                <a:spcPts val="12"/>
              </a:spcAft>
            </a:pPr>
            <a:r>
              <a:rPr sz="1875" b="1">
                <a:solidFill>
                  <a:srgbClr val="007C77"/>
                </a:solidFill>
                <a:latin typeface="Inter Bold"/>
                <a:ea typeface="Inter Bold"/>
                <a:cs typeface="Inter Bold"/>
              </a:rPr>
              <a:t>PostgreSQL + API</a:t>
            </a:r>
          </a:p>
          <a:p>
            <a:r>
              <a:rPr sz="1500">
                <a:solidFill>
                  <a:srgbClr val="242834"/>
                </a:solidFill>
                <a:latin typeface="Inter"/>
                <a:ea typeface="Inter"/>
                <a:cs typeface="Inter"/>
              </a:rPr>
              <a:t>Существующая
основа MVP</a:t>
            </a:r>
          </a:p>
        </p:txBody>
      </p:sp>
      <p:sp>
        <p:nvSpPr>
          <p:cNvPr id="7" name="ui-existing">
            <a:extLst>
              <a:ext uri="{FF2B5EF4-FFF2-40B4-BE49-F238E27FC236}">
                <a16:creationId xmlns:a16="http://schemas.microsoft.com/office/drawing/2014/main" id="{19EC1254-40D1-4734-97E1-6FA0C41C70EC}"/>
              </a:ext>
            </a:extLst>
          </p:cNvPr>
          <p:cNvSpPr>
            <a:spLocks noGrp="1"/>
          </p:cNvSpPr>
          <p:nvPr/>
        </p:nvSpPr>
        <p:spPr>
          <a:xfrm>
            <a:off x="9315450" y="2209800"/>
            <a:ext cx="2219325" cy="1552575"/>
          </a:xfrm>
          <a:prstGeom prst="roundRect">
            <a:avLst>
              <a:gd name="adj" fmla="val 7362"/>
            </a:avLst>
          </a:prstGeom>
          <a:solidFill>
            <a:srgbClr val="F2F7FD"/>
          </a:solidFill>
          <a:ln w="14288">
            <a:solidFill>
              <a:srgbClr val="005AAA"/>
            </a:solidFill>
          </a:ln>
        </p:spPr>
        <p:txBody>
          <a:bodyPr wrap="square" lIns="190500" tIns="190500" rIns="171450" bIns="152400" anchor="t">
            <a:noAutofit/>
          </a:bodyPr>
          <a:lstStyle/>
          <a:p>
            <a:pPr>
              <a:spcAft>
                <a:spcPts val="12"/>
              </a:spcAft>
            </a:pPr>
            <a:r>
              <a:rPr sz="1875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WebApp в MAX</a:t>
            </a:r>
          </a:p>
          <a:p>
            <a:r>
              <a:rPr sz="1500">
                <a:solidFill>
                  <a:srgbClr val="242834"/>
                </a:solidFill>
                <a:latin typeface="Inter"/>
                <a:ea typeface="Inter"/>
                <a:cs typeface="Inter"/>
              </a:rPr>
              <a:t>Привычные экраны
для жителя</a:t>
            </a:r>
          </a:p>
        </p:txBody>
      </p:sp>
      <p:cxnSp>
        <p:nvCxnSpPr>
          <p:cNvPr id="24" name="Прямая со стрелкой 23"/>
          <p:cNvCxnSpPr>
            <a:stCxn id="4" idx="3"/>
            <a:endCxn id="5" idx="1"/>
          </p:cNvCxnSpPr>
          <p:nvPr/>
        </p:nvCxnSpPr>
        <p:spPr>
          <a:xfrm>
            <a:off x="2876550" y="2986088"/>
            <a:ext cx="666750" cy="0"/>
          </a:xfrm>
          <a:prstGeom prst="straightConnector1">
            <a:avLst/>
          </a:prstGeom>
          <a:ln w="20955">
            <a:solidFill>
              <a:srgbClr val="6A8CAD"/>
            </a:solidFill>
            <a:tailEnd type="triangle" w="med" len="med"/>
          </a:ln>
        </p:spPr>
      </p:cxnSp>
      <p:cxnSp>
        <p:nvCxnSpPr>
          <p:cNvPr id="25" name="Прямая со стрелкой 24"/>
          <p:cNvCxnSpPr>
            <a:stCxn id="5" idx="3"/>
            <a:endCxn id="6" idx="1"/>
          </p:cNvCxnSpPr>
          <p:nvPr/>
        </p:nvCxnSpPr>
        <p:spPr>
          <a:xfrm>
            <a:off x="5762625" y="2986088"/>
            <a:ext cx="666750" cy="0"/>
          </a:xfrm>
          <a:prstGeom prst="straightConnector1">
            <a:avLst/>
          </a:prstGeom>
          <a:ln w="20955">
            <a:solidFill>
              <a:srgbClr val="6A8CAD"/>
            </a:solidFill>
            <a:tailEnd type="triangle" w="med" len="med"/>
          </a:ln>
        </p:spPr>
      </p:cxnSp>
      <p:cxnSp>
        <p:nvCxnSpPr>
          <p:cNvPr id="26" name="Прямая со стрелкой 25"/>
          <p:cNvCxnSpPr>
            <a:stCxn id="6" idx="3"/>
            <a:endCxn id="7" idx="1"/>
          </p:cNvCxnSpPr>
          <p:nvPr/>
        </p:nvCxnSpPr>
        <p:spPr>
          <a:xfrm>
            <a:off x="8648700" y="2986088"/>
            <a:ext cx="666750" cy="0"/>
          </a:xfrm>
          <a:prstGeom prst="straightConnector1">
            <a:avLst/>
          </a:prstGeom>
          <a:ln w="20955">
            <a:solidFill>
              <a:srgbClr val="6A8CAD"/>
            </a:solidFill>
            <a:tailEnd type="triangle" w="med" len="med"/>
          </a:ln>
        </p:spPr>
      </p:cxnSp>
      <p:sp>
        <p:nvSpPr>
          <p:cNvPr id="11" name="step1">
            <a:extLst>
              <a:ext uri="{FF2B5EF4-FFF2-40B4-BE49-F238E27FC236}">
                <a16:creationId xmlns:a16="http://schemas.microsoft.com/office/drawing/2014/main" id="{6593C4AF-DE95-44CA-9ED7-3FE8816283A3}"/>
              </a:ext>
            </a:extLst>
          </p:cNvPr>
          <p:cNvSpPr>
            <a:spLocks noGrp="1"/>
          </p:cNvSpPr>
          <p:nvPr/>
        </p:nvSpPr>
        <p:spPr>
          <a:xfrm>
            <a:off x="657225" y="4324350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875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1875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01  Сопоставить данные</a:t>
            </a:r>
          </a:p>
        </p:txBody>
      </p:sp>
      <p:sp>
        <p:nvSpPr>
          <p:cNvPr id="12" name="step1body">
            <a:extLst>
              <a:ext uri="{FF2B5EF4-FFF2-40B4-BE49-F238E27FC236}">
                <a16:creationId xmlns:a16="http://schemas.microsoft.com/office/drawing/2014/main" id="{04BA93A7-D516-4ABD-9027-C1403306C0EE}"/>
              </a:ext>
            </a:extLst>
          </p:cNvPr>
          <p:cNvSpPr>
            <a:spLocks noGrp="1"/>
          </p:cNvSpPr>
          <p:nvPr/>
        </p:nvSpPr>
        <p:spPr>
          <a:xfrm>
            <a:off x="657225" y="4829175"/>
            <a:ext cx="33337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575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Дом → квартира → лицевой счёт.</a:t>
            </a:r>
          </a:p>
          <a:p>
            <a:pPr algn="l">
              <a:lnSpc>
                <a:spcPct val="114000"/>
              </a:lnSpc>
              <a:buNone/>
              <a:defRPr sz="1575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Версии и идентификаторы источника.</a:t>
            </a:r>
          </a:p>
        </p:txBody>
      </p:sp>
      <p:sp>
        <p:nvSpPr>
          <p:cNvPr id="13" name="step2">
            <a:extLst>
              <a:ext uri="{FF2B5EF4-FFF2-40B4-BE49-F238E27FC236}">
                <a16:creationId xmlns:a16="http://schemas.microsoft.com/office/drawing/2014/main" id="{A8B54FA1-8AF8-45BE-A58F-2276E3A507D7}"/>
              </a:ext>
            </a:extLst>
          </p:cNvPr>
          <p:cNvSpPr>
            <a:spLocks noGrp="1"/>
          </p:cNvSpPr>
          <p:nvPr/>
        </p:nvSpPr>
        <p:spPr>
          <a:xfrm>
            <a:off x="4429125" y="4324350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875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1875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02  Подтвердить доступ</a:t>
            </a:r>
          </a:p>
        </p:txBody>
      </p:sp>
      <p:sp>
        <p:nvSpPr>
          <p:cNvPr id="14" name="step2body">
            <a:extLst>
              <a:ext uri="{FF2B5EF4-FFF2-40B4-BE49-F238E27FC236}">
                <a16:creationId xmlns:a16="http://schemas.microsoft.com/office/drawing/2014/main" id="{6E3E56E7-A12E-4520-B8E4-A4414214F185}"/>
              </a:ext>
            </a:extLst>
          </p:cNvPr>
          <p:cNvSpPr>
            <a:spLocks noGrp="1"/>
          </p:cNvSpPr>
          <p:nvPr/>
        </p:nvSpPr>
        <p:spPr>
          <a:xfrm>
            <a:off x="4429125" y="4829175"/>
            <a:ext cx="33337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575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Проверка initData MAX на сервере.</a:t>
            </a:r>
          </a:p>
          <a:p>
            <a:pPr algn="l">
              <a:lnSpc>
                <a:spcPct val="114000"/>
              </a:lnSpc>
              <a:buNone/>
              <a:defRPr sz="1575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Привязка квартиры и роли.</a:t>
            </a:r>
          </a:p>
        </p:txBody>
      </p:sp>
      <p:sp>
        <p:nvSpPr>
          <p:cNvPr id="15" name="step3">
            <a:extLst>
              <a:ext uri="{FF2B5EF4-FFF2-40B4-BE49-F238E27FC236}">
                <a16:creationId xmlns:a16="http://schemas.microsoft.com/office/drawing/2014/main" id="{C05DD9C1-7634-48F5-9B4D-50E99E597C3E}"/>
              </a:ext>
            </a:extLst>
          </p:cNvPr>
          <p:cNvSpPr>
            <a:spLocks noGrp="1"/>
          </p:cNvSpPr>
          <p:nvPr/>
        </p:nvSpPr>
        <p:spPr>
          <a:xfrm>
            <a:off x="8201025" y="4324350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875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1875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03  Проверить обмен</a:t>
            </a:r>
          </a:p>
        </p:txBody>
      </p:sp>
      <p:sp>
        <p:nvSpPr>
          <p:cNvPr id="16" name="step3body">
            <a:extLst>
              <a:ext uri="{FF2B5EF4-FFF2-40B4-BE49-F238E27FC236}">
                <a16:creationId xmlns:a16="http://schemas.microsoft.com/office/drawing/2014/main" id="{AABC831D-0A02-4849-BA71-2AA14A421ED6}"/>
              </a:ext>
            </a:extLst>
          </p:cNvPr>
          <p:cNvSpPr>
            <a:spLocks noGrp="1"/>
          </p:cNvSpPr>
          <p:nvPr/>
        </p:nvSpPr>
        <p:spPr>
          <a:xfrm>
            <a:off x="8201025" y="4829175"/>
            <a:ext cx="33337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575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Повторы без дублей, журнал ошибок.</a:t>
            </a:r>
          </a:p>
          <a:p>
            <a:pPr algn="l">
              <a:lnSpc>
                <a:spcPct val="114000"/>
              </a:lnSpc>
              <a:buNone/>
              <a:defRPr sz="1575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Сверка начислений и статусов.</a:t>
            </a:r>
          </a:p>
        </p:txBody>
      </p:sp>
      <p:sp>
        <p:nvSpPr>
          <p:cNvPr id="17" name="source-caption">
            <a:extLst>
              <a:ext uri="{FF2B5EF4-FFF2-40B4-BE49-F238E27FC236}">
                <a16:creationId xmlns:a16="http://schemas.microsoft.com/office/drawing/2014/main" id="{727DA746-C5C4-4154-958B-5735E9AA9101}"/>
              </a:ext>
            </a:extLst>
          </p:cNvPr>
          <p:cNvSpPr>
            <a:spLocks noGrp="1"/>
          </p:cNvSpPr>
          <p:nvPr/>
        </p:nvSpPr>
        <p:spPr>
          <a:xfrm>
            <a:off x="657225" y="624840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125" b="0">
                <a:solidFill>
                  <a:srgbClr val="57677C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57677C"/>
                </a:solidFill>
                <a:latin typeface="Inter"/>
                <a:ea typeface="Inter"/>
                <a:cs typeface="Inter"/>
              </a:rPr>
              <a:t>Адаптеры, импорт и авторизация — следующий этап. Объём работ зависит от систем выбранной УК.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8AC8E86-0014-EA3C-1AC5-EBA182DB5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8800" y="6248400"/>
            <a:ext cx="14224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607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AEF1476-6115-4F03-931E-5B6BAE5F8635}"/>
              </a:ext>
            </a:extLst>
          </p:cNvPr>
          <p:cNvSpPr>
            <a:spLocks noGrp="1"/>
          </p:cNvSpPr>
          <p:nvPr/>
        </p:nvSpPr>
        <p:spPr>
          <a:xfrm>
            <a:off x="657225" y="523875"/>
            <a:ext cx="10877550" cy="590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3300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3300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Сильная основа. Понятные границы роста.</a:t>
            </a:r>
          </a:p>
        </p:txBody>
      </p:sp>
      <p:pic>
        <p:nvPicPr>
          <p:cNvPr id="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1352550"/>
            <a:ext cx="4857750" cy="485775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0AFD57E4-8477-478F-B43A-F8A14A4BB7BB}"/>
              </a:ext>
            </a:extLst>
          </p:cNvPr>
          <p:cNvSpPr>
            <a:spLocks noGrp="1"/>
          </p:cNvSpPr>
          <p:nvPr/>
        </p:nvSpPr>
        <p:spPr>
          <a:xfrm>
            <a:off x="6524625" y="1924050"/>
            <a:ext cx="4762500" cy="923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2475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2475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Пилот снимает</a:t>
            </a:r>
          </a:p>
          <a:p>
            <a:pPr marL="0" indent="0" algn="l">
              <a:lnSpc>
                <a:spcPct val="114000"/>
              </a:lnSpc>
              <a:buNone/>
              <a:defRPr sz="2475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2475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главные риски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A01567F-A99E-4977-AB81-DFF0A389C2D7}"/>
              </a:ext>
            </a:extLst>
          </p:cNvPr>
          <p:cNvSpPr>
            <a:spLocks noGrp="1"/>
          </p:cNvSpPr>
          <p:nvPr/>
        </p:nvSpPr>
        <p:spPr>
          <a:xfrm>
            <a:off x="6524625" y="3162300"/>
            <a:ext cx="4781550" cy="2600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800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800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Сильная</a:t>
            </a:r>
            <a:r>
              <a:rPr sz="1800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сторона</a:t>
            </a:r>
            <a:r>
              <a:rPr sz="1800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 — </a:t>
            </a:r>
            <a:r>
              <a:rPr sz="1800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работающие</a:t>
            </a:r>
            <a:r>
              <a:rPr sz="1800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сценарии</a:t>
            </a:r>
            <a:endParaRPr sz="1800" b="0" dirty="0">
              <a:solidFill>
                <a:srgbClr val="242834"/>
              </a:solidFill>
              <a:latin typeface="Inter"/>
              <a:ea typeface="Inter"/>
              <a:cs typeface="Inter"/>
            </a:endParaRPr>
          </a:p>
          <a:p>
            <a:pPr marL="0" indent="0" algn="l">
              <a:lnSpc>
                <a:spcPct val="114000"/>
              </a:lnSpc>
              <a:buNone/>
              <a:defRPr sz="1800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800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и</a:t>
            </a:r>
            <a:r>
              <a:rPr sz="1800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постоянное</a:t>
            </a:r>
            <a:r>
              <a:rPr sz="1800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хранение</a:t>
            </a:r>
            <a:r>
              <a:rPr sz="1800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данных</a:t>
            </a:r>
            <a:r>
              <a:rPr sz="1800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 marL="0" indent="0" algn="l">
              <a:lnSpc>
                <a:spcPct val="101000"/>
              </a:lnSpc>
              <a:buNone/>
            </a:pPr>
            <a:endParaRPr sz="1800" b="0" dirty="0">
              <a:solidFill>
                <a:srgbClr val="242834"/>
              </a:solidFill>
              <a:latin typeface="Inter"/>
              <a:ea typeface="Inter"/>
              <a:cs typeface="Inter"/>
            </a:endParaRPr>
          </a:p>
          <a:p>
            <a:pPr marL="0" indent="0" algn="l">
              <a:lnSpc>
                <a:spcPct val="114000"/>
              </a:lnSpc>
              <a:buNone/>
              <a:defRPr sz="1800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800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До</a:t>
            </a:r>
            <a:r>
              <a:rPr sz="1800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запуска</a:t>
            </a:r>
            <a:r>
              <a:rPr sz="1800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с</a:t>
            </a:r>
            <a:r>
              <a:rPr sz="1800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жителями</a:t>
            </a:r>
            <a:r>
              <a:rPr sz="1800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: </a:t>
            </a:r>
            <a:r>
              <a:rPr sz="1800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авторизация</a:t>
            </a:r>
            <a:r>
              <a:rPr sz="1800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,</a:t>
            </a:r>
          </a:p>
          <a:p>
            <a:pPr marL="0" indent="0" algn="l">
              <a:lnSpc>
                <a:spcPct val="114000"/>
              </a:lnSpc>
              <a:buNone/>
              <a:defRPr sz="1800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800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реальные</a:t>
            </a:r>
            <a:r>
              <a:rPr sz="1800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интеграции</a:t>
            </a:r>
            <a:r>
              <a:rPr sz="1800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и</a:t>
            </a:r>
            <a:r>
              <a:rPr sz="1800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эксплуатация</a:t>
            </a:r>
            <a:r>
              <a:rPr sz="1800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.</a:t>
            </a:r>
          </a:p>
          <a:p>
            <a:pPr marL="0" indent="0" algn="l">
              <a:lnSpc>
                <a:spcPct val="101000"/>
              </a:lnSpc>
              <a:buNone/>
            </a:pPr>
            <a:endParaRPr sz="1800" b="0" dirty="0">
              <a:solidFill>
                <a:srgbClr val="242834"/>
              </a:solidFill>
              <a:latin typeface="Inter"/>
              <a:ea typeface="Inter"/>
              <a:cs typeface="Inter"/>
            </a:endParaRPr>
          </a:p>
          <a:p>
            <a:pPr marL="0" indent="0" algn="l">
              <a:lnSpc>
                <a:spcPct val="114000"/>
              </a:lnSpc>
              <a:buNone/>
              <a:defRPr sz="1800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800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Проверяем</a:t>
            </a:r>
            <a:r>
              <a:rPr sz="1800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это</a:t>
            </a:r>
            <a:r>
              <a:rPr sz="1800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на</a:t>
            </a:r>
            <a:r>
              <a:rPr sz="1800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одном</a:t>
            </a:r>
            <a:r>
              <a:rPr sz="1800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доме</a:t>
            </a:r>
            <a:r>
              <a:rPr sz="1800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,</a:t>
            </a:r>
          </a:p>
          <a:p>
            <a:pPr marL="0" indent="0" algn="l">
              <a:lnSpc>
                <a:spcPct val="114000"/>
              </a:lnSpc>
              <a:buNone/>
              <a:defRPr sz="1800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800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затем</a:t>
            </a:r>
            <a:r>
              <a:rPr sz="1800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расширяем</a:t>
            </a:r>
            <a:r>
              <a:rPr sz="1800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решение</a:t>
            </a:r>
            <a:r>
              <a:rPr sz="1800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F615D0C-0512-7FC2-1C9D-9BA3E265CB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8800" y="6248400"/>
            <a:ext cx="14224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458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F299C6A-583B-4F26-8651-00841B968554}"/>
              </a:ext>
            </a:extLst>
          </p:cNvPr>
          <p:cNvSpPr>
            <a:spLocks noGrp="1"/>
          </p:cNvSpPr>
          <p:nvPr/>
        </p:nvSpPr>
        <p:spPr>
          <a:xfrm>
            <a:off x="657225" y="523875"/>
            <a:ext cx="10877550" cy="590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3300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3300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Как доведём MVP до пилота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4CC6CEB-BF68-4C11-90E3-B5F3BA5E82EA}"/>
              </a:ext>
            </a:extLst>
          </p:cNvPr>
          <p:cNvSpPr>
            <a:spLocks noGrp="1"/>
          </p:cNvSpPr>
          <p:nvPr/>
        </p:nvSpPr>
        <p:spPr>
          <a:xfrm>
            <a:off x="661475" y="2325191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CCE4FF"/>
          </a:solidFill>
          <a:ln w="6350">
            <a:solidFill>
              <a:srgbClr val="B2CAE5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F378E78-513F-4CCB-B7C7-6900E419637B}"/>
              </a:ext>
            </a:extLst>
          </p:cNvPr>
          <p:cNvSpPr>
            <a:spLocks noGrp="1"/>
          </p:cNvSpPr>
          <p:nvPr/>
        </p:nvSpPr>
        <p:spPr>
          <a:xfrm>
            <a:off x="857250" y="2543175"/>
            <a:ext cx="310515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2100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2100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01  Подготовить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8C9DFE2-76F3-446E-B0C6-1151542D1F16}"/>
              </a:ext>
            </a:extLst>
          </p:cNvPr>
          <p:cNvSpPr>
            <a:spLocks noGrp="1"/>
          </p:cNvSpPr>
          <p:nvPr/>
        </p:nvSpPr>
        <p:spPr>
          <a:xfrm>
            <a:off x="857250" y="3105150"/>
            <a:ext cx="3105150" cy="1104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800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MAX ID и квартира</a:t>
            </a:r>
          </a:p>
          <a:p>
            <a:pPr marL="0" indent="0" algn="l">
              <a:lnSpc>
                <a:spcPct val="114000"/>
              </a:lnSpc>
              <a:buNone/>
              <a:defRPr sz="1800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Серверные роли</a:t>
            </a:r>
          </a:p>
          <a:p>
            <a:pPr marL="0" indent="0" algn="l">
              <a:lnSpc>
                <a:spcPct val="114000"/>
              </a:lnSpc>
              <a:buNone/>
              <a:defRPr sz="1800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Исправление демозаглушек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E0CC692-98F1-4AC5-8386-3319242A36D5}"/>
              </a:ext>
            </a:extLst>
          </p:cNvPr>
          <p:cNvSpPr>
            <a:spLocks noGrp="1"/>
          </p:cNvSpPr>
          <p:nvPr/>
        </p:nvSpPr>
        <p:spPr>
          <a:xfrm>
            <a:off x="4347359" y="2325191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CCE4FF"/>
          </a:solidFill>
          <a:ln w="6350">
            <a:solidFill>
              <a:srgbClr val="B2CAE5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B6444ED-84CA-48CF-8B9B-BC1C5DB27DA8}"/>
              </a:ext>
            </a:extLst>
          </p:cNvPr>
          <p:cNvSpPr>
            <a:spLocks noGrp="1"/>
          </p:cNvSpPr>
          <p:nvPr/>
        </p:nvSpPr>
        <p:spPr>
          <a:xfrm>
            <a:off x="4543425" y="2543175"/>
            <a:ext cx="310515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2100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2100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02  Подключить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FD4123D-8249-496B-B1D5-0CA6AFB4A366}"/>
              </a:ext>
            </a:extLst>
          </p:cNvPr>
          <p:cNvSpPr>
            <a:spLocks noGrp="1"/>
          </p:cNvSpPr>
          <p:nvPr/>
        </p:nvSpPr>
        <p:spPr>
          <a:xfrm>
            <a:off x="4543425" y="3105150"/>
            <a:ext cx="3105150" cy="1104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800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Данные одной УК</a:t>
            </a:r>
          </a:p>
          <a:p>
            <a:pPr marL="0" indent="0" algn="l">
              <a:lnSpc>
                <a:spcPct val="114000"/>
              </a:lnSpc>
              <a:buNone/>
              <a:defRPr sz="1800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Заявки диспетчера</a:t>
            </a:r>
          </a:p>
          <a:p>
            <a:pPr marL="0" indent="0" algn="l">
              <a:lnSpc>
                <a:spcPct val="114000"/>
              </a:lnSpc>
              <a:buNone/>
              <a:defRPr sz="1800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Доставка уведомлений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D14E98F-C4F3-4245-BFE9-F245883ECD2E}"/>
              </a:ext>
            </a:extLst>
          </p:cNvPr>
          <p:cNvSpPr>
            <a:spLocks noGrp="1"/>
          </p:cNvSpPr>
          <p:nvPr/>
        </p:nvSpPr>
        <p:spPr>
          <a:xfrm>
            <a:off x="8033244" y="2325191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CCE4FF"/>
          </a:solidFill>
          <a:ln w="6350">
            <a:solidFill>
              <a:srgbClr val="B2CAE5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4953960-6122-4BF8-88E9-C9860EF766A7}"/>
              </a:ext>
            </a:extLst>
          </p:cNvPr>
          <p:cNvSpPr>
            <a:spLocks noGrp="1"/>
          </p:cNvSpPr>
          <p:nvPr/>
        </p:nvSpPr>
        <p:spPr>
          <a:xfrm>
            <a:off x="8229600" y="2543175"/>
            <a:ext cx="3105150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2100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sz="2100" b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03  Проверить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34F3160-B564-4548-8B75-53B0ED7CB846}"/>
              </a:ext>
            </a:extLst>
          </p:cNvPr>
          <p:cNvSpPr>
            <a:spLocks noGrp="1"/>
          </p:cNvSpPr>
          <p:nvPr/>
        </p:nvSpPr>
        <p:spPr>
          <a:xfrm>
            <a:off x="8229600" y="3105150"/>
            <a:ext cx="3105150" cy="1104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725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Пилот одного дома</a:t>
            </a:r>
          </a:p>
          <a:p>
            <a:pPr marL="0" indent="0" algn="l">
              <a:lnSpc>
                <a:spcPct val="114000"/>
              </a:lnSpc>
              <a:buNone/>
              <a:defRPr sz="1725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Метрики и обратная связь</a:t>
            </a:r>
          </a:p>
          <a:p>
            <a:pPr marL="0" indent="0" algn="l">
              <a:lnSpc>
                <a:spcPct val="114000"/>
              </a:lnSpc>
              <a:buNone/>
              <a:defRPr sz="1725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Мониторинг и резервные копии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9D8590A-3194-4B22-B1DF-4AF2471B8B32}"/>
              </a:ext>
            </a:extLst>
          </p:cNvPr>
          <p:cNvSpPr>
            <a:spLocks noGrp="1"/>
          </p:cNvSpPr>
          <p:nvPr/>
        </p:nvSpPr>
        <p:spPr>
          <a:xfrm>
            <a:off x="942975" y="4752975"/>
            <a:ext cx="10582275" cy="781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950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Критерий готовности: житель отправляет заявку, УК обрабатывает её,</a:t>
            </a:r>
          </a:p>
          <a:p>
            <a:pPr marL="0" indent="0" algn="l">
              <a:lnSpc>
                <a:spcPct val="114000"/>
              </a:lnSpc>
              <a:buNone/>
              <a:defRPr sz="1950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242834"/>
                </a:solidFill>
                <a:latin typeface="Inter"/>
                <a:ea typeface="Inter"/>
                <a:cs typeface="Inter"/>
              </a:rPr>
              <a:t>а результат возвращается в приложение и MAX.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DB3B42C-C9A4-4E89-8C11-AF295AA4ED1C}"/>
              </a:ext>
            </a:extLst>
          </p:cNvPr>
          <p:cNvSpPr>
            <a:spLocks noGrp="1"/>
          </p:cNvSpPr>
          <p:nvPr/>
        </p:nvSpPr>
        <p:spPr>
          <a:xfrm>
            <a:off x="661475" y="4546898"/>
            <a:ext cx="25399" cy="1030089"/>
          </a:xfrm>
          <a:prstGeom prst="roundRect">
            <a:avLst>
              <a:gd name="adj" fmla="val 50001"/>
            </a:avLst>
          </a:prstGeom>
          <a:solidFill>
            <a:srgbClr val="003068"/>
          </a:solidFill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90F695C-2A18-452A-A900-036A5BD8A4A0}"/>
              </a:ext>
            </a:extLst>
          </p:cNvPr>
          <p:cNvSpPr>
            <a:spLocks noGrp="1"/>
          </p:cNvSpPr>
          <p:nvPr/>
        </p:nvSpPr>
        <p:spPr>
          <a:xfrm>
            <a:off x="657225" y="5934075"/>
            <a:ext cx="10763250" cy="447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500" b="0">
                <a:solidFill>
                  <a:srgbClr val="57677C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57677C"/>
                </a:solidFill>
                <a:latin typeface="Inter"/>
                <a:ea typeface="Inter"/>
                <a:cs typeface="Inter"/>
              </a:rPr>
              <a:t>Измерим: завершение задач · время действий · повторные обращения · успешность уведомлений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1A2F2E3-C1FF-2198-CBCA-6AF780DD9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8800" y="6248400"/>
            <a:ext cx="14224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199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A350A4F4-F82F-44F1-A65C-1BD251A38307}"/>
              </a:ext>
            </a:extLst>
          </p:cNvPr>
          <p:cNvSpPr>
            <a:spLocks noGrp="1"/>
          </p:cNvSpPr>
          <p:nvPr/>
        </p:nvSpPr>
        <p:spPr>
          <a:xfrm>
            <a:off x="5229225" y="647700"/>
            <a:ext cx="6296025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3600" b="1">
                <a:solidFill>
                  <a:srgbClr val="005AAA"/>
                </a:solidFill>
                <a:latin typeface="Inter Bold"/>
                <a:ea typeface="Inter Bold"/>
                <a:cs typeface="Inter Bold"/>
              </a:defRPr>
            </a:pPr>
            <a:r>
              <a:rPr lang="en" sz="3600" b="1" dirty="0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MAX </a:t>
            </a:r>
            <a:r>
              <a:rPr sz="3600" b="1" dirty="0" err="1">
                <a:solidFill>
                  <a:srgbClr val="005AAA"/>
                </a:solidFill>
                <a:latin typeface="Inter Bold"/>
                <a:ea typeface="Inter Bold"/>
                <a:cs typeface="Inter Bold"/>
              </a:rPr>
              <a:t>Дом</a:t>
            </a:r>
            <a:endParaRPr sz="3600" b="1" dirty="0">
              <a:solidFill>
                <a:srgbClr val="005AAA"/>
              </a:solidFill>
              <a:latin typeface="Inter Bold"/>
              <a:ea typeface="Inter Bold"/>
              <a:cs typeface="Inter Bold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861B94F-652F-4CD0-A182-CE221814CBB2}"/>
              </a:ext>
            </a:extLst>
          </p:cNvPr>
          <p:cNvSpPr>
            <a:spLocks noGrp="1"/>
          </p:cNvSpPr>
          <p:nvPr/>
        </p:nvSpPr>
        <p:spPr>
          <a:xfrm>
            <a:off x="4201551" y="1444053"/>
            <a:ext cx="6296025" cy="876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800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800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Следующий</a:t>
            </a:r>
            <a:r>
              <a:rPr sz="1800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шаг</a:t>
            </a:r>
            <a:r>
              <a:rPr sz="1800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 — </a:t>
            </a:r>
            <a:r>
              <a:rPr sz="1800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пилот</a:t>
            </a:r>
            <a:r>
              <a:rPr sz="1800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с</a:t>
            </a:r>
            <a:r>
              <a:rPr sz="1800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одной</a:t>
            </a:r>
            <a:r>
              <a:rPr sz="1800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 УК:</a:t>
            </a:r>
          </a:p>
          <a:p>
            <a:pPr marL="0" indent="0" algn="l">
              <a:lnSpc>
                <a:spcPct val="114000"/>
              </a:lnSpc>
              <a:buNone/>
              <a:defRPr sz="1800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800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подключить</a:t>
            </a:r>
            <a:r>
              <a:rPr sz="1800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данные</a:t>
            </a:r>
            <a:r>
              <a:rPr sz="1800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и</a:t>
            </a:r>
            <a:r>
              <a:rPr sz="1800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проверить</a:t>
            </a:r>
            <a:r>
              <a:rPr sz="1800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пользу</a:t>
            </a:r>
            <a:endParaRPr sz="1800" b="0" dirty="0">
              <a:solidFill>
                <a:srgbClr val="242834"/>
              </a:solidFill>
              <a:latin typeface="Inter"/>
              <a:ea typeface="Inter"/>
              <a:cs typeface="Inter"/>
            </a:endParaRPr>
          </a:p>
          <a:p>
            <a:pPr marL="0" indent="0" algn="l">
              <a:lnSpc>
                <a:spcPct val="114000"/>
              </a:lnSpc>
              <a:buNone/>
              <a:defRPr sz="1800" b="0">
                <a:solidFill>
                  <a:srgbClr val="242834"/>
                </a:solidFill>
                <a:latin typeface="Inter"/>
                <a:ea typeface="Inter"/>
                <a:cs typeface="Inter"/>
              </a:defRPr>
            </a:pPr>
            <a:r>
              <a:rPr sz="1800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для</a:t>
            </a:r>
            <a:r>
              <a:rPr sz="1800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жителей</a:t>
            </a:r>
            <a:r>
              <a:rPr sz="1800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на</a:t>
            </a:r>
            <a:r>
              <a:rPr sz="1800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реальных</a:t>
            </a:r>
            <a:r>
              <a:rPr sz="1800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 </a:t>
            </a:r>
            <a:r>
              <a:rPr sz="1800" b="0" dirty="0" err="1">
                <a:solidFill>
                  <a:srgbClr val="242834"/>
                </a:solidFill>
                <a:latin typeface="Inter"/>
                <a:ea typeface="Inter"/>
                <a:cs typeface="Inter"/>
              </a:rPr>
              <a:t>задачах</a:t>
            </a:r>
            <a:r>
              <a:rPr sz="1800" b="0" dirty="0">
                <a:solidFill>
                  <a:srgbClr val="242834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EF099D39-618E-4DE1-B623-C77FA6A1E157}"/>
              </a:ext>
            </a:extLst>
          </p:cNvPr>
          <p:cNvSpPr>
            <a:spLocks noGrp="1"/>
          </p:cNvSpPr>
          <p:nvPr/>
        </p:nvSpPr>
        <p:spPr>
          <a:xfrm>
            <a:off x="4175604" y="307177"/>
            <a:ext cx="1740849" cy="272752"/>
          </a:xfrm>
          <a:prstGeom prst="roundRect">
            <a:avLst>
              <a:gd name="adj" fmla="val 22121"/>
            </a:avLst>
          </a:prstGeom>
          <a:solidFill>
            <a:srgbClr val="CCE4FF"/>
          </a:solidFill>
        </p:spPr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932D56E-51AB-4758-913F-88E33255D745}"/>
              </a:ext>
            </a:extLst>
          </p:cNvPr>
          <p:cNvSpPr>
            <a:spLocks noGrp="1"/>
          </p:cNvSpPr>
          <p:nvPr/>
        </p:nvSpPr>
        <p:spPr>
          <a:xfrm>
            <a:off x="4276244" y="361350"/>
            <a:ext cx="173355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050" b="1">
                <a:solidFill>
                  <a:srgbClr val="003068"/>
                </a:solidFill>
                <a:latin typeface="Inter Bold"/>
                <a:ea typeface="Inter Bold"/>
                <a:cs typeface="Inter Bold"/>
              </a:defRPr>
            </a:pPr>
            <a:r>
              <a:rPr sz="1050" b="1">
                <a:solidFill>
                  <a:srgbClr val="003068"/>
                </a:solidFill>
                <a:latin typeface="Inter Bold"/>
                <a:ea typeface="Inter Bold"/>
                <a:cs typeface="Inter Bold"/>
              </a:rPr>
              <a:t>ОДИН ДОМ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C00EB2CF-9EA0-4BAC-8D2B-17B2ED68BC77}"/>
              </a:ext>
            </a:extLst>
          </p:cNvPr>
          <p:cNvSpPr>
            <a:spLocks noGrp="1"/>
          </p:cNvSpPr>
          <p:nvPr/>
        </p:nvSpPr>
        <p:spPr>
          <a:xfrm>
            <a:off x="6006144" y="307177"/>
            <a:ext cx="2314277" cy="272752"/>
          </a:xfrm>
          <a:prstGeom prst="roundRect">
            <a:avLst>
              <a:gd name="adj" fmla="val 22121"/>
            </a:avLst>
          </a:prstGeom>
          <a:noFill/>
          <a:ln w="6350">
            <a:solidFill>
              <a:srgbClr val="003068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7F14208-2773-4105-A6B6-0A3B66135C8E}"/>
              </a:ext>
            </a:extLst>
          </p:cNvPr>
          <p:cNvSpPr>
            <a:spLocks noGrp="1"/>
          </p:cNvSpPr>
          <p:nvPr/>
        </p:nvSpPr>
        <p:spPr>
          <a:xfrm>
            <a:off x="6105044" y="361350"/>
            <a:ext cx="2209800" cy="2000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953" b="1">
                <a:solidFill>
                  <a:srgbClr val="003068"/>
                </a:solidFill>
                <a:latin typeface="Inter Bold"/>
                <a:ea typeface="Inter Bold"/>
                <a:cs typeface="Inter Bold"/>
              </a:defRPr>
            </a:pPr>
            <a:r>
              <a:rPr sz="953" b="1" dirty="0">
                <a:solidFill>
                  <a:srgbClr val="003068"/>
                </a:solidFill>
                <a:latin typeface="Inter Bold"/>
                <a:ea typeface="Inter Bold"/>
                <a:cs typeface="Inter Bold"/>
              </a:rPr>
              <a:t>ОДНА УПРАВЛЯЮЩАЯ КОМПАНИЯ</a:t>
            </a: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646F1AE3-6E84-4369-AE67-04E13586E7A9}"/>
              </a:ext>
            </a:extLst>
          </p:cNvPr>
          <p:cNvSpPr>
            <a:spLocks noGrp="1"/>
          </p:cNvSpPr>
          <p:nvPr/>
        </p:nvSpPr>
        <p:spPr>
          <a:xfrm>
            <a:off x="8467704" y="282335"/>
            <a:ext cx="1595090" cy="297594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003068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EDD15AF-AA8F-4282-89CE-DF4900C88205}"/>
              </a:ext>
            </a:extLst>
          </p:cNvPr>
          <p:cNvSpPr>
            <a:spLocks noGrp="1"/>
          </p:cNvSpPr>
          <p:nvPr/>
        </p:nvSpPr>
        <p:spPr>
          <a:xfrm>
            <a:off x="8621720" y="348477"/>
            <a:ext cx="1588357" cy="2182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975" b="1">
                <a:solidFill>
                  <a:srgbClr val="003068"/>
                </a:solidFill>
                <a:latin typeface="Inter Bold"/>
                <a:ea typeface="Inter Bold"/>
                <a:cs typeface="Inter Bold"/>
              </a:defRPr>
            </a:pPr>
            <a:r>
              <a:rPr sz="975" b="1" dirty="0">
                <a:solidFill>
                  <a:srgbClr val="003068"/>
                </a:solidFill>
                <a:latin typeface="Inter Bold"/>
                <a:ea typeface="Inter Bold"/>
                <a:cs typeface="Inter Bold"/>
              </a:rPr>
              <a:t>РЕАЛЬНЫЕ ДАННЫЕ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FC24878-393A-4E9F-BC99-CED6F19AB2F2}"/>
              </a:ext>
            </a:extLst>
          </p:cNvPr>
          <p:cNvSpPr>
            <a:spLocks noGrp="1"/>
          </p:cNvSpPr>
          <p:nvPr/>
        </p:nvSpPr>
        <p:spPr>
          <a:xfrm>
            <a:off x="5977246" y="6243091"/>
            <a:ext cx="6296025" cy="34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650" b="0">
                <a:solidFill>
                  <a:srgbClr val="57677C"/>
                </a:solidFill>
                <a:latin typeface="Inter"/>
                <a:ea typeface="Inter"/>
                <a:cs typeface="Inter"/>
              </a:defRPr>
            </a:pPr>
            <a:r>
              <a:rPr sz="1650" b="0" i="1" dirty="0" err="1">
                <a:solidFill>
                  <a:srgbClr val="57677C"/>
                </a:solidFill>
                <a:latin typeface="Inter"/>
                <a:ea typeface="Inter"/>
                <a:cs typeface="Inter"/>
              </a:rPr>
              <a:t>Команда</a:t>
            </a:r>
            <a:r>
              <a:rPr sz="1650" b="0" i="1" dirty="0">
                <a:solidFill>
                  <a:srgbClr val="57677C"/>
                </a:solidFill>
                <a:latin typeface="Inter"/>
                <a:ea typeface="Inter"/>
                <a:cs typeface="Inter"/>
              </a:rPr>
              <a:t> «</a:t>
            </a:r>
            <a:r>
              <a:rPr sz="1650" b="0" i="1" dirty="0" err="1">
                <a:solidFill>
                  <a:srgbClr val="57677C"/>
                </a:solidFill>
                <a:latin typeface="Inter"/>
                <a:ea typeface="Inter"/>
                <a:cs typeface="Inter"/>
              </a:rPr>
              <a:t>Груз</a:t>
            </a:r>
            <a:r>
              <a:rPr sz="1650" b="0" i="1" dirty="0">
                <a:solidFill>
                  <a:srgbClr val="57677C"/>
                </a:solidFill>
                <a:latin typeface="Inter"/>
                <a:ea typeface="Inter"/>
                <a:cs typeface="Inter"/>
              </a:rPr>
              <a:t> 67» · </a:t>
            </a:r>
            <a:r>
              <a:rPr sz="1650" b="0" i="1" dirty="0" err="1">
                <a:solidFill>
                  <a:srgbClr val="57677C"/>
                </a:solidFill>
                <a:latin typeface="Inter"/>
                <a:ea typeface="Inter"/>
                <a:cs typeface="Inter"/>
              </a:rPr>
              <a:t>Хакатон</a:t>
            </a:r>
            <a:r>
              <a:rPr sz="1650" b="0" i="1" dirty="0">
                <a:solidFill>
                  <a:srgbClr val="57677C"/>
                </a:solidFill>
                <a:latin typeface="Inter"/>
                <a:ea typeface="Inter"/>
                <a:cs typeface="Inter"/>
              </a:rPr>
              <a:t> «</a:t>
            </a:r>
            <a:r>
              <a:rPr sz="1650" b="0" i="1" dirty="0" err="1">
                <a:solidFill>
                  <a:srgbClr val="57677C"/>
                </a:solidFill>
                <a:latin typeface="Inter"/>
                <a:ea typeface="Inter"/>
                <a:cs typeface="Inter"/>
              </a:rPr>
              <a:t>Умный</a:t>
            </a:r>
            <a:r>
              <a:rPr sz="1650" b="0" i="1" dirty="0">
                <a:solidFill>
                  <a:srgbClr val="57677C"/>
                </a:solidFill>
                <a:latin typeface="Inter"/>
                <a:ea typeface="Inter"/>
                <a:cs typeface="Inter"/>
              </a:rPr>
              <a:t> </a:t>
            </a:r>
            <a:r>
              <a:rPr sz="1650" b="0" i="1" dirty="0" err="1">
                <a:solidFill>
                  <a:srgbClr val="57677C"/>
                </a:solidFill>
                <a:latin typeface="Inter"/>
                <a:ea typeface="Inter"/>
                <a:cs typeface="Inter"/>
              </a:rPr>
              <a:t>город</a:t>
            </a:r>
            <a:r>
              <a:rPr sz="1650" b="0" i="1" dirty="0">
                <a:solidFill>
                  <a:srgbClr val="57677C"/>
                </a:solidFill>
                <a:latin typeface="Inter"/>
                <a:ea typeface="Inter"/>
                <a:cs typeface="Inter"/>
              </a:rPr>
              <a:t>»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00245" y="447675"/>
            <a:ext cx="2790559" cy="6048375"/>
          </a:xfrm>
          <a:prstGeom prst="roundRect">
            <a:avLst>
              <a:gd name="adj" fmla="val 4762"/>
            </a:avLst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69432D0-D4DC-511C-9EBF-BEA39A445F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8800" y="6248400"/>
            <a:ext cx="1422400" cy="609600"/>
          </a:xfrm>
          <a:prstGeom prst="rect">
            <a:avLst/>
          </a:prstGeom>
        </p:spPr>
      </p:pic>
      <p:sp>
        <p:nvSpPr>
          <p:cNvPr id="15" name="Text 9">
            <a:extLst>
              <a:ext uri="{FF2B5EF4-FFF2-40B4-BE49-F238E27FC236}">
                <a16:creationId xmlns:a16="http://schemas.microsoft.com/office/drawing/2014/main" id="{237CF9C5-F117-B89E-75B4-08EA214FE59A}"/>
              </a:ext>
            </a:extLst>
          </p:cNvPr>
          <p:cNvSpPr>
            <a:spLocks noGrp="1"/>
          </p:cNvSpPr>
          <p:nvPr/>
        </p:nvSpPr>
        <p:spPr>
          <a:xfrm>
            <a:off x="7762407" y="3962299"/>
            <a:ext cx="747622" cy="34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650" b="0">
                <a:solidFill>
                  <a:srgbClr val="57677C"/>
                </a:solidFill>
                <a:latin typeface="Inter"/>
                <a:ea typeface="Inter"/>
                <a:cs typeface="Inter"/>
              </a:defRPr>
            </a:pPr>
            <a:r>
              <a:rPr lang="en-US" sz="1650" b="0" i="1" dirty="0" err="1">
                <a:solidFill>
                  <a:srgbClr val="57677C"/>
                </a:solidFill>
                <a:latin typeface="Inter"/>
                <a:ea typeface="Inter"/>
                <a:cs typeface="Inter"/>
              </a:rPr>
              <a:t>github</a:t>
            </a:r>
            <a:endParaRPr sz="1650" b="0" i="1" dirty="0">
              <a:solidFill>
                <a:srgbClr val="57677C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833C5526-37C3-2665-B4DA-991BF5537EAD}"/>
              </a:ext>
            </a:extLst>
          </p:cNvPr>
          <p:cNvSpPr>
            <a:spLocks noGrp="1"/>
          </p:cNvSpPr>
          <p:nvPr/>
        </p:nvSpPr>
        <p:spPr>
          <a:xfrm>
            <a:off x="9600946" y="3962299"/>
            <a:ext cx="1759457" cy="34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4000"/>
              </a:lnSpc>
              <a:buNone/>
              <a:defRPr sz="1650" b="0">
                <a:solidFill>
                  <a:srgbClr val="57677C"/>
                </a:solidFill>
                <a:latin typeface="Inter"/>
                <a:ea typeface="Inter"/>
                <a:cs typeface="Inter"/>
              </a:defRPr>
            </a:pPr>
            <a:r>
              <a:rPr lang="en-US" sz="1650" b="0" i="1" dirty="0">
                <a:solidFill>
                  <a:srgbClr val="57677C"/>
                </a:solidFill>
                <a:latin typeface="Inter"/>
                <a:ea typeface="Inter"/>
                <a:cs typeface="Inter"/>
              </a:rPr>
              <a:t>Bot </a:t>
            </a:r>
            <a:r>
              <a:rPr lang="ru-RU" sz="1650" b="0" i="1" dirty="0">
                <a:solidFill>
                  <a:srgbClr val="57677C"/>
                </a:solidFill>
                <a:latin typeface="Inter"/>
                <a:ea typeface="Inter"/>
                <a:cs typeface="Inter"/>
              </a:rPr>
              <a:t>в </a:t>
            </a:r>
            <a:r>
              <a:rPr lang="en-US" sz="1650" b="0" i="1" dirty="0">
                <a:solidFill>
                  <a:srgbClr val="57677C"/>
                </a:solidFill>
                <a:latin typeface="Inter"/>
                <a:ea typeface="Inter"/>
                <a:cs typeface="Inter"/>
              </a:rPr>
              <a:t>MAX</a:t>
            </a:r>
            <a:endParaRPr sz="1650" b="0" i="1" dirty="0">
              <a:solidFill>
                <a:srgbClr val="57677C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8AF8076-8D32-6307-AD32-692837D82E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1350" y="4272310"/>
            <a:ext cx="1898650" cy="187325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36B4B384-29BC-59E6-1F94-0A84B6E42A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0947" y="4272310"/>
            <a:ext cx="1830543" cy="1794054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F6AEDC0-9D52-904A-1AE6-050E3003AB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0872" y="4235944"/>
            <a:ext cx="1830543" cy="1805889"/>
          </a:xfrm>
          <a:prstGeom prst="rect">
            <a:avLst/>
          </a:prstGeom>
        </p:spPr>
      </p:pic>
      <p:sp>
        <p:nvSpPr>
          <p:cNvPr id="20" name="Text 9">
            <a:extLst>
              <a:ext uri="{FF2B5EF4-FFF2-40B4-BE49-F238E27FC236}">
                <a16:creationId xmlns:a16="http://schemas.microsoft.com/office/drawing/2014/main" id="{B3BDD850-8973-C485-A0A7-C19362E6E009}"/>
              </a:ext>
            </a:extLst>
          </p:cNvPr>
          <p:cNvSpPr>
            <a:spLocks noGrp="1"/>
          </p:cNvSpPr>
          <p:nvPr/>
        </p:nvSpPr>
        <p:spPr>
          <a:xfrm>
            <a:off x="5192488" y="3929410"/>
            <a:ext cx="2060478" cy="34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  <a:defRPr sz="1650" b="0">
                <a:solidFill>
                  <a:srgbClr val="57677C"/>
                </a:solidFill>
                <a:latin typeface="Inter"/>
                <a:ea typeface="Inter"/>
                <a:cs typeface="Inter"/>
              </a:defRPr>
            </a:pPr>
            <a:r>
              <a:rPr lang="en-US" sz="1650" b="0" i="1" dirty="0" err="1">
                <a:solidFill>
                  <a:srgbClr val="57677C"/>
                </a:solidFill>
                <a:latin typeface="Inter"/>
                <a:ea typeface="Inter"/>
                <a:cs typeface="Inter"/>
              </a:rPr>
              <a:t>Tg</a:t>
            </a:r>
            <a:r>
              <a:rPr lang="en-US" sz="1650" b="0" i="1" dirty="0">
                <a:solidFill>
                  <a:srgbClr val="57677C"/>
                </a:solidFill>
                <a:latin typeface="Inter"/>
                <a:ea typeface="Inter"/>
                <a:cs typeface="Inter"/>
              </a:rPr>
              <a:t> for feedback</a:t>
            </a:r>
            <a:endParaRPr sz="1650" b="0" i="1" dirty="0">
              <a:solidFill>
                <a:srgbClr val="57677C"/>
              </a:solidFill>
              <a:latin typeface="Inter"/>
              <a:ea typeface="Inter"/>
              <a:cs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843954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2137</Words>
  <Application>Microsoft Macintosh PowerPoint</Application>
  <DocSecurity>0</DocSecurity>
  <PresentationFormat>Широкоэкранный</PresentationFormat>
  <Paragraphs>231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Inter Bold</vt:lpstr>
      <vt:lpstr>Inter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kgrigor2016@gmail.com</cp:lastModifiedBy>
  <cp:revision>1</cp:revision>
  <dcterms:created xsi:type="dcterms:W3CDTF">2026-09-30T18:08:41Z</dcterms:created>
  <dcterms:modified xsi:type="dcterms:W3CDTF">2026-09-30T18:47:04Z</dcterms:modified>
</cp:coreProperties>
</file>